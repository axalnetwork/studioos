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6E86FF">
                <a:alpha val="3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D0</c:v>
                  </c:pt>
                  <c:pt idx="1">
                    <c:v>D5</c:v>
                  </c:pt>
                  <c:pt idx="2">
                    <c:v>D10</c:v>
                  </c:pt>
                  <c:pt idx="3">
                    <c:v>D15</c:v>
                  </c:pt>
                  <c:pt idx="4">
                    <c:v>D20</c:v>
                  </c:pt>
                  <c:pt idx="5">
                    <c:v>D25</c:v>
                  </c:pt>
                  <c:pt idx="6">
                    <c:v>D30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14</c:v>
                </c:pt>
                <c:pt idx="2">
                  <c:v>22</c:v>
                </c:pt>
                <c:pt idx="3">
                  <c:v>29</c:v>
                </c:pt>
                <c:pt idx="4">
                  <c:v>35</c:v>
                </c:pt>
                <c:pt idx="5">
                  <c:v>39</c:v>
                </c:pt>
                <c:pt idx="6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5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116"/>
        </a:solidFill>
        <a:ln>
          <a:noFill/>
        </a:ln>
        <a:effectLst/>
      </c:spPr>
    </c:plotArea>
    <c:plotVisOnly val="1"/>
    <c:dispBlanksAs val="span"/>
  </c:chart>
  <c:spPr>
    <a:solidFill>
      <a:srgbClr val="0E111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 table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4BE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B9C4F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EF0F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Founders</c:v>
                </c:pt>
                <c:pt idx="1">
                  <c:v>Option pool</c:v>
                </c:pt>
                <c:pt idx="2">
                  <c:v>SAFE (reserved)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80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Focal: thesis statement; area chart is the data hero (cumulative discovery interviews over the sprint).
AUTO: company, thesis, sector/stage/founder, lab-day counter, validation-signal series.
MANUAL: final thesis wording.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PROBLEM. Message: a few high-frequency, evidenced pains, ranked.
AUTO: pain themes, frequency %, interview counts, pull quote.
MANUAL: choose which quote to surface; trim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VALIDATION. Message: measurable signal from the sprint.
AUTO: scorecard values, funnel stage counts, conversion rate.
MANUAL: none (computed).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MARKET. Message: credible bottom-up serviceable market.
AUTO: TAM/SAM/SOM figures, ACV + lender-count assumptions.
MANUAL: the three why-now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SOLUTION. Message: data → live score, four steps.
AUTO: step copy, outcome metrics.
MANUAL: confirm outcome numbers vs. latest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Message: operating plan on the 30-day cadence.
AUTO: milestones + status flags (milestone tracker).
MANUAL: none if tracker is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&amp; NETWORK. Message: founder inside a structured operating network.
AUTO: profiles, network node labels (people graph).
MANUAL: advisor consent; swap initials for headshots.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 TABLE &amp; INCORPORATION. Message: legal + equity setup is investor-ready.
AUTO: checklist statuses, cap-table splits (data-room module).
MANUAL: none if module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ASK. Message: specific raise tied to a milestone.
AUTO: raise, instrument/cap, runway, close, allocations.
MANUAL: confirm cap + close with counsel.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DEAL READINESS. Message: diligence-ready now, frictionless next step.
AUTO: document statuses, timeline, contact.
MANUAL: confirm contact + live data-room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2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0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AXAL VC · SPIN-OUT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97687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DAY · DAY 30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6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BASEPOINT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Private-market lenders still price risk on weeks-old data. Basepoint scores it in real time.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0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SIGNAL · 30-DAY SPRINT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818120" y="2331720"/>
          <a:ext cx="3886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0835640" y="239572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18120" y="4617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discovery interviews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5532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5779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/ AI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337560" y="5532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37560" y="5779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035040" y="5532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35040" y="5779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Osei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732520" y="5532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STATUS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732520" y="5779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 / 30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05672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pains surface in every lender conversation.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Synthesized from 42 discovery interviews with credit and risk teams at mid-market private lenders.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6F7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154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9C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60120" y="37033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i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re-underwrite on data that's already three weeks old. By then the borrower has moved.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Credit · mid-market direct lender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FREQUENCY ACROSS INTERVIEWS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3317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data at decision 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0" y="23317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27080" y="23317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42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92040" y="2697480"/>
            <a:ext cx="6629400" cy="155448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2697480"/>
            <a:ext cx="5701284" cy="155448"/>
          </a:xfrm>
          <a:prstGeom prst="roundRect">
            <a:avLst>
              <a:gd name="adj" fmla="val 50000"/>
            </a:avLst>
          </a:prstGeom>
          <a:solidFill>
            <a:srgbClr val="2C4BE0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17296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slow review cycles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0" y="31729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27080" y="31729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42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3538728"/>
            <a:ext cx="6629400" cy="155448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2040" y="3538728"/>
            <a:ext cx="4706874" cy="155448"/>
          </a:xfrm>
          <a:prstGeom prst="roundRect">
            <a:avLst>
              <a:gd name="adj" fmla="val 50000"/>
            </a:avLst>
          </a:prstGeom>
          <a:solidFill>
            <a:srgbClr val="B9C4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401421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coverage of private borrowers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0" y="40142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27080" y="401421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42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4379976"/>
            <a:ext cx="6629400" cy="155448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4379976"/>
            <a:ext cx="4242816" cy="155448"/>
          </a:xfrm>
          <a:prstGeom prst="roundRect">
            <a:avLst>
              <a:gd name="adj" fmla="val 50000"/>
            </a:avLst>
          </a:prstGeom>
          <a:solidFill>
            <a:srgbClr val="B9C4F6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48554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continuous monitoring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0" y="48554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27080" y="485546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42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5221224"/>
            <a:ext cx="6629400" cy="155448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30" name="Shape 28"/>
          <p:cNvSpPr/>
          <p:nvPr/>
        </p:nvSpPr>
        <p:spPr>
          <a:xfrm>
            <a:off x="4892040" y="5221224"/>
            <a:ext cx="3447288" cy="155448"/>
          </a:xfrm>
          <a:prstGeom prst="roundRect">
            <a:avLst>
              <a:gd name="adj" fmla="val 50000"/>
            </a:avLst>
          </a:prstGeom>
          <a:solidFill>
            <a:srgbClr val="B9C4F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AXAL VC · SPIN-OUT LAB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BASEPOINT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05672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signal from a 30-day discovery sprint.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476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26243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 completed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78308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9312" y="19476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39312" y="26243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pains captured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1344" y="178308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9944" y="19476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9944" y="26243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solution-fit (/10)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51976" y="178308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0576" y="19476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80576" y="26243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Design-partner LOIs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FUNNEL · OUTREACH → COMMITTED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out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88920" y="3840480"/>
            <a:ext cx="7040880" cy="310896"/>
          </a:xfrm>
          <a:prstGeom prst="roundRect">
            <a:avLst>
              <a:gd name="adj" fmla="val 14706"/>
            </a:avLst>
          </a:prstGeom>
          <a:solidFill>
            <a:srgbClr val="2C4BE0">
              <a:alpha val="4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939528" y="3840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88920" y="4297680"/>
            <a:ext cx="1642872" cy="310896"/>
          </a:xfrm>
          <a:prstGeom prst="roundRect">
            <a:avLst>
              <a:gd name="adj" fmla="val 14706"/>
            </a:avLst>
          </a:prstGeom>
          <a:solidFill>
            <a:srgbClr val="2C4BE0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41520" y="42976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7548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confirmed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88920" y="4754880"/>
            <a:ext cx="1408176" cy="310896"/>
          </a:xfrm>
          <a:prstGeom prst="roundRect">
            <a:avLst>
              <a:gd name="adj" fmla="val 14706"/>
            </a:avLst>
          </a:prstGeom>
          <a:solidFill>
            <a:srgbClr val="2C4BE0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306824" y="4754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2120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Solution-fit ≥ 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88920" y="5212080"/>
            <a:ext cx="938784" cy="310896"/>
          </a:xfrm>
          <a:prstGeom prst="roundRect">
            <a:avLst>
              <a:gd name="adj" fmla="val 14706"/>
            </a:avLst>
          </a:prstGeom>
          <a:solidFill>
            <a:srgbClr val="2C4BE0">
              <a:alpha val="8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837432" y="52120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6692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/ design partner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88920" y="5669280"/>
            <a:ext cx="411480" cy="310896"/>
          </a:xfrm>
          <a:prstGeom prst="roundRect">
            <a:avLst>
              <a:gd name="adj" fmla="val 14706"/>
            </a:avLst>
          </a:prstGeom>
          <a:solidFill>
            <a:srgbClr val="2C4BE0"/>
          </a:solidFill>
          <a:ln/>
        </p:spPr>
      </p:sp>
      <p:sp>
        <p:nvSpPr>
          <p:cNvPr id="32" name="Text 30"/>
          <p:cNvSpPr/>
          <p:nvPr/>
        </p:nvSpPr>
        <p:spPr>
          <a:xfrm>
            <a:off x="3310128" y="56692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52160" y="5230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interview → LOI conversion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AXAL VC · SPIN-OUT LAB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BASEPOINT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05672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$3.2B serviceable market, expanding with private credit.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463040" y="2057400"/>
            <a:ext cx="3200400" cy="3200400"/>
          </a:xfrm>
          <a:prstGeom prst="ellipse">
            <a:avLst/>
          </a:prstGeom>
          <a:solidFill>
            <a:srgbClr val="EEF0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2560320"/>
            <a:ext cx="2194560" cy="2194560"/>
          </a:xfrm>
          <a:prstGeom prst="ellipse">
            <a:avLst/>
          </a:prstGeom>
          <a:solidFill>
            <a:srgbClr val="E7EBF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91740" y="3086100"/>
            <a:ext cx="1143000" cy="1143000"/>
          </a:xfrm>
          <a:prstGeom prst="ellipse">
            <a:avLst/>
          </a:prstGeom>
          <a:solidFill>
            <a:srgbClr val="2C4B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34564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23160" y="2697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4600" y="2176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5550408"/>
            <a:ext cx="146304" cy="146304"/>
          </a:xfrm>
          <a:prstGeom prst="ellipse">
            <a:avLst/>
          </a:prstGeom>
          <a:solidFill>
            <a:srgbClr val="2C4BE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5477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 </a:t>
            </a:r>
            <a:pPr indent="0" marL="0">
              <a:buNone/>
            </a:pPr>
            <a:r>
              <a:rPr lang="en-US" sz="11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$180M  </a:t>
            </a:r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Early-target segment, 3-yr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5861304"/>
            <a:ext cx="146304" cy="146304"/>
          </a:xfrm>
          <a:prstGeom prst="ellipse">
            <a:avLst/>
          </a:prstGeom>
          <a:solidFill>
            <a:srgbClr val="E7EBFD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57881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</a:t>
            </a:r>
            <a:pPr indent="0" marL="0">
              <a:buNone/>
            </a:pPr>
            <a:r>
              <a:rPr lang="en-US" sz="11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$3.2B  </a:t>
            </a:r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private lenders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6172200"/>
            <a:ext cx="146304" cy="146304"/>
          </a:xfrm>
          <a:prstGeom prst="ellipse">
            <a:avLst/>
          </a:prstGeom>
          <a:solidFill>
            <a:srgbClr val="EEF0F3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60990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 </a:t>
            </a:r>
            <a:pPr indent="0" marL="0">
              <a:buNone/>
            </a:pPr>
            <a:r>
              <a:rPr lang="en-US" sz="11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$14B  </a:t>
            </a:r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Private-credit risk tooling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1828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9C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2286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credit has scaled fast.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040880" y="26151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has roughly doubled since 2020, outpacing the tooling underwriters rely 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3364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9C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33649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infra is in, risk tooling isn't.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0" y="369417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Lenders now warehouse loan data but still score risk on manual, periodic reviews.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44439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9C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44439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pressure is rising.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040880" y="47731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 and regulators increasingly expect continuous, auditable risk reporting.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46520" y="55321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Assumptions: bottom-up from ~2,400 addressable mid-market lenders × $75K ACV; SOM = ~8% reached in 3 years.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AXAL VC · SPIN-OUT LAB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BASEPOINT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05672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borrower data to a live risk score.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45287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86000"/>
            <a:ext cx="658368" cy="658368"/>
          </a:xfrm>
          <a:prstGeom prst="ellipse">
            <a:avLst/>
          </a:prstGeom>
          <a:solidFill>
            <a:srgbClr val="E7EBF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45059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15718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6112" y="3063240"/>
            <a:ext cx="1995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96112" y="3429000"/>
            <a:ext cx="19956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loan tapes, bank feeds, and filings in minutes.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11246" y="27889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C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58718" y="2011680"/>
            <a:ext cx="245287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14750" y="2286000"/>
            <a:ext cx="658368" cy="658368"/>
          </a:xfrm>
          <a:prstGeom prst="ellipse">
            <a:avLst/>
          </a:prstGeom>
          <a:solidFill>
            <a:srgbClr val="E7EBF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342" y="245059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34356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14750" y="3063240"/>
            <a:ext cx="1995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714750" y="3429000"/>
            <a:ext cx="19956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real-time risk score with explainable drivers.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929884" y="27889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C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277356" y="2011680"/>
            <a:ext cx="245287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33388" y="2286000"/>
            <a:ext cx="658368" cy="658368"/>
          </a:xfrm>
          <a:prstGeom prst="ellipse">
            <a:avLst/>
          </a:prstGeom>
          <a:solidFill>
            <a:srgbClr val="E7EBF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2450592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952994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533388" y="3063240"/>
            <a:ext cx="1995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533388" y="3429000"/>
            <a:ext cx="19956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watch every borrower, not just at review.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748522" y="27889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C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9095994" y="2011680"/>
            <a:ext cx="245287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352026" y="2286000"/>
            <a:ext cx="658368" cy="658368"/>
          </a:xfrm>
          <a:prstGeom prst="ellipse">
            <a:avLst/>
          </a:prstGeom>
          <a:solidFill>
            <a:srgbClr val="E7EBFD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6618" y="2450592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771632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352026" y="3063240"/>
            <a:ext cx="1995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9352026" y="3429000"/>
            <a:ext cx="19956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alerts and repricing the moment risk moves.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4008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40080" y="47548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6F7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896112" y="4892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600" dirty="0"/>
          </a:p>
        </p:txBody>
      </p:sp>
      <p:sp>
        <p:nvSpPr>
          <p:cNvPr id="35" name="Text 29"/>
          <p:cNvSpPr/>
          <p:nvPr/>
        </p:nvSpPr>
        <p:spPr>
          <a:xfrm>
            <a:off x="896112" y="53949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credit decisions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334256" y="47548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6F7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4590288" y="4892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2600" dirty="0"/>
          </a:p>
        </p:txBody>
      </p:sp>
      <p:sp>
        <p:nvSpPr>
          <p:cNvPr id="38" name="Text 32"/>
          <p:cNvSpPr/>
          <p:nvPr/>
        </p:nvSpPr>
        <p:spPr>
          <a:xfrm>
            <a:off x="4590288" y="53949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vs. quarterly reviews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8028432" y="47548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6F7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8284464" y="4892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</a:t>
            </a:r>
            <a:endParaRPr lang="en-US" sz="2600" dirty="0"/>
          </a:p>
        </p:txBody>
      </p:sp>
      <p:sp>
        <p:nvSpPr>
          <p:cNvPr id="41" name="Text 35"/>
          <p:cNvSpPr/>
          <p:nvPr/>
        </p:nvSpPr>
        <p:spPr>
          <a:xfrm>
            <a:off x="8284464" y="53949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and covenant signals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AXAL VC · SPIN-OUT LAB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BASEPOINT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05672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next, later — on a 30-day operating clock.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725912" cy="0"/>
          </a:xfrm>
          <a:prstGeom prst="line">
            <a:avLst/>
          </a:prstGeom>
          <a:noFill/>
          <a:ln w="1905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947672"/>
            <a:ext cx="128016" cy="128016"/>
          </a:xfrm>
          <a:prstGeom prst="ellipse">
            <a:avLst/>
          </a:prstGeom>
          <a:solidFill>
            <a:srgbClr val="AEB6C0"/>
          </a:solidFill>
          <a:ln/>
        </p:spPr>
      </p:sp>
      <p:sp>
        <p:nvSpPr>
          <p:cNvPr id="7" name="Text 5"/>
          <p:cNvSpPr/>
          <p:nvPr/>
        </p:nvSpPr>
        <p:spPr>
          <a:xfrm>
            <a:off x="-182880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42816" y="1947672"/>
            <a:ext cx="128016" cy="128016"/>
          </a:xfrm>
          <a:prstGeom prst="ellipse">
            <a:avLst/>
          </a:prstGeom>
          <a:solidFill>
            <a:srgbClr val="2C4BE0"/>
          </a:solidFill>
          <a:ln/>
        </p:spPr>
      </p:sp>
      <p:sp>
        <p:nvSpPr>
          <p:cNvPr id="9" name="Text 7"/>
          <p:cNvSpPr/>
          <p:nvPr/>
        </p:nvSpPr>
        <p:spPr>
          <a:xfrm>
            <a:off x="3392424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  ·  today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818120" y="1947672"/>
            <a:ext cx="128016" cy="128016"/>
          </a:xfrm>
          <a:prstGeom prst="ellipse">
            <a:avLst/>
          </a:prstGeom>
          <a:solidFill>
            <a:srgbClr val="AEB6C0"/>
          </a:solidFill>
          <a:ln/>
        </p:spPr>
      </p:sp>
      <p:sp>
        <p:nvSpPr>
          <p:cNvPr id="11" name="Text 9"/>
          <p:cNvSpPr/>
          <p:nvPr/>
        </p:nvSpPr>
        <p:spPr>
          <a:xfrm>
            <a:off x="6967728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393424" y="1947672"/>
            <a:ext cx="128016" cy="128016"/>
          </a:xfrm>
          <a:prstGeom prst="ellipse">
            <a:avLst/>
          </a:prstGeom>
          <a:solidFill>
            <a:srgbClr val="AEB6C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43032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3447288" cy="3246120"/>
          </a:xfrm>
          <a:prstGeom prst="roundRect">
            <a:avLst>
              <a:gd name="adj" fmla="val 2817"/>
            </a:avLst>
          </a:prstGeom>
          <a:solidFill>
            <a:srgbClr val="E7EBF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2862072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227832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 – 30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721608"/>
            <a:ext cx="201168" cy="201168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715" y="3775923"/>
            <a:ext cx="100584" cy="1005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25296" y="3666744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discovery interviews completed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14400" y="4379976"/>
            <a:ext cx="201168" cy="201168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15" y="4434291"/>
            <a:ext cx="100584" cy="1005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25296" y="4325112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risk-score prototype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914400" y="5038344"/>
            <a:ext cx="201168" cy="201168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4" name="Shape 20"/>
          <p:cNvSpPr/>
          <p:nvPr/>
        </p:nvSpPr>
        <p:spPr>
          <a:xfrm>
            <a:off x="982797" y="5106741"/>
            <a:ext cx="64374" cy="6437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1225296" y="49834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design partners signed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370832" y="2606040"/>
            <a:ext cx="3447288" cy="3246120"/>
          </a:xfrm>
          <a:prstGeom prst="roundRect">
            <a:avLst>
              <a:gd name="adj" fmla="val 2817"/>
            </a:avLst>
          </a:prstGeom>
          <a:solidFill>
            <a:srgbClr val="F6F7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4645152" y="2862072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4645152" y="3227832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31 – 60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645152" y="3721608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EB6C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956048" y="3666744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 with 3 design partners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645152" y="4379976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EB6C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956048" y="4325112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API v1 in production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4645152" y="503834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EB6C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956048" y="49834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paid contract signed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8101584" y="2606040"/>
            <a:ext cx="3447288" cy="3246120"/>
          </a:xfrm>
          <a:prstGeom prst="roundRect">
            <a:avLst>
              <a:gd name="adj" fmla="val 2817"/>
            </a:avLst>
          </a:prstGeom>
          <a:solidFill>
            <a:srgbClr val="F6F7F9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8375904" y="2862072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8375904" y="3227832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61 – 90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8375904" y="3721608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EB6C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686800" y="3666744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Type I underway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8375904" y="4379976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EB6C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686800" y="4325112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paying lenders onboarded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8375904" y="503834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EB6C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686800" y="49834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opened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64008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   </a:t>
            </a:r>
            <a:pPr indent="0" marL="0">
              <a:buNone/>
            </a:pPr>
            <a:r>
              <a:rPr lang="en-US" sz="1100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    </a:t>
            </a:r>
            <a:pPr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AXAL VC · SPIN-OUT LAB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BASEPOINT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NETWORK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05672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founder backed by an operating network.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rgbClr val="2C4BE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57400" y="21214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Osei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057400" y="2487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Ex-credit-risk lead; built underwriting models across a $2B private-credit book.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4224528"/>
            <a:ext cx="457200" cy="457200"/>
          </a:xfrm>
          <a:prstGeom prst="ellipse">
            <a:avLst/>
          </a:prstGeom>
          <a:solidFill>
            <a:srgbClr val="EEF0F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422452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Kerr   </a:t>
            </a:r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CRO, regional bank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791456"/>
            <a:ext cx="457200" cy="457200"/>
          </a:xfrm>
          <a:prstGeom prst="ellipse">
            <a:avLst/>
          </a:prstGeom>
          <a:solidFill>
            <a:srgbClr val="EEF0F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479145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Rina Patel   </a:t>
            </a:r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GTM, 2 exits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358384"/>
            <a:ext cx="457200" cy="457200"/>
          </a:xfrm>
          <a:prstGeom prst="ellipse">
            <a:avLst/>
          </a:prstGeom>
          <a:solidFill>
            <a:srgbClr val="EEF0F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358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53583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Voss   </a:t>
            </a:r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lead, risk modeling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549640" y="2286000"/>
            <a:ext cx="0" cy="1508760"/>
          </a:xfrm>
          <a:prstGeom prst="line">
            <a:avLst/>
          </a:prstGeom>
          <a:noFill/>
          <a:ln w="19050">
            <a:solidFill>
              <a:srgbClr val="B9C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49640" y="3794760"/>
            <a:ext cx="2286000" cy="0"/>
          </a:xfrm>
          <a:prstGeom prst="line">
            <a:avLst/>
          </a:prstGeom>
          <a:noFill/>
          <a:ln w="19050">
            <a:solidFill>
              <a:srgbClr val="B9C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9640" y="3794760"/>
            <a:ext cx="0" cy="1508760"/>
          </a:xfrm>
          <a:prstGeom prst="line">
            <a:avLst/>
          </a:prstGeom>
          <a:noFill/>
          <a:ln w="19050">
            <a:solidFill>
              <a:srgbClr val="B9C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3794760"/>
            <a:ext cx="2286000" cy="0"/>
          </a:xfrm>
          <a:prstGeom prst="line">
            <a:avLst/>
          </a:prstGeom>
          <a:noFill/>
          <a:ln w="19050">
            <a:solidFill>
              <a:srgbClr val="B9C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1865376"/>
            <a:ext cx="2011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35240" y="1984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Axal VC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63524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+ capital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29800" y="3374136"/>
            <a:ext cx="2011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921240" y="3493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network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921240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pipeline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43800" y="4882896"/>
            <a:ext cx="2011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35240" y="5001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partners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635240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lenders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57800" y="3374136"/>
            <a:ext cx="2011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349240" y="3493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 bench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349240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+ GTM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635240" y="3291840"/>
            <a:ext cx="1828800" cy="1005840"/>
          </a:xfrm>
          <a:prstGeom prst="ellipse">
            <a:avLst/>
          </a:prstGeom>
          <a:solidFill>
            <a:srgbClr val="2C4BE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63524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Basepoint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AXAL VC · SPIN-OUT LAB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BASEPOINT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TABLE &amp; INCORPORATION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05672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Entity-ready: clean cap table and founder setup.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ENTITY SETUP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943600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404872"/>
            <a:ext cx="219456" cy="219456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925" y="2464125"/>
            <a:ext cx="109728" cy="1097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C-corp formed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2286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834640"/>
            <a:ext cx="5943600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2953512"/>
            <a:ext cx="219456" cy="219456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25" y="3012765"/>
            <a:ext cx="109728" cy="1097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equity issued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212080" y="2834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383280"/>
            <a:ext cx="5943600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/>
        </p:spPr>
      </p:sp>
      <p:sp>
        <p:nvSpPr>
          <p:cNvPr id="17" name="Shape 13"/>
          <p:cNvSpPr/>
          <p:nvPr/>
        </p:nvSpPr>
        <p:spPr>
          <a:xfrm>
            <a:off x="804672" y="3502152"/>
            <a:ext cx="219456" cy="219456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25" y="3561405"/>
            <a:ext cx="109728" cy="1097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3383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4-yr vesting, 1-yr cliff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212080" y="3383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3931920"/>
            <a:ext cx="5943600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/>
        </p:spPr>
      </p:sp>
      <p:sp>
        <p:nvSpPr>
          <p:cNvPr id="22" name="Shape 17"/>
          <p:cNvSpPr/>
          <p:nvPr/>
        </p:nvSpPr>
        <p:spPr>
          <a:xfrm>
            <a:off x="804672" y="4050792"/>
            <a:ext cx="219456" cy="219456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25" y="4110045"/>
            <a:ext cx="109728" cy="1097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3931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83(b) elections filed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212080" y="3931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0080" y="4480560"/>
            <a:ext cx="5943600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/>
        </p:spPr>
      </p:sp>
      <p:sp>
        <p:nvSpPr>
          <p:cNvPr id="27" name="Shape 21"/>
          <p:cNvSpPr/>
          <p:nvPr/>
        </p:nvSpPr>
        <p:spPr>
          <a:xfrm>
            <a:off x="804672" y="4599432"/>
            <a:ext cx="219456" cy="219456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25" y="4658685"/>
            <a:ext cx="109728" cy="1097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4480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assignment executed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212080" y="4480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40080" y="5029200"/>
            <a:ext cx="5943600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/>
        </p:spPr>
      </p:sp>
      <p:sp>
        <p:nvSpPr>
          <p:cNvPr id="32" name="Shape 25"/>
          <p:cNvSpPr/>
          <p:nvPr/>
        </p:nvSpPr>
        <p:spPr>
          <a:xfrm>
            <a:off x="804672" y="5148072"/>
            <a:ext cx="219456" cy="219456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925" y="5207325"/>
            <a:ext cx="109728" cy="10972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88720" y="5029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pool reserved (15%)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212080" y="50292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40080" y="5577840"/>
            <a:ext cx="5943600" cy="45720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/>
        </p:spPr>
      </p:sp>
      <p:sp>
        <p:nvSpPr>
          <p:cNvPr id="37" name="Shape 29"/>
          <p:cNvSpPr/>
          <p:nvPr/>
        </p:nvSpPr>
        <p:spPr>
          <a:xfrm>
            <a:off x="804672" y="5696712"/>
            <a:ext cx="219456" cy="219456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38" name="Shape 30"/>
          <p:cNvSpPr/>
          <p:nvPr/>
        </p:nvSpPr>
        <p:spPr>
          <a:xfrm>
            <a:off x="879287" y="5771327"/>
            <a:ext cx="70226" cy="7022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1"/>
          <p:cNvSpPr/>
          <p:nvPr/>
        </p:nvSpPr>
        <p:spPr>
          <a:xfrm>
            <a:off x="1188720" y="5577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template prepared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5212080" y="5577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6903720" y="18288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TABLE · FULLY DILUTED</a:t>
            </a:r>
            <a:endParaRPr lang="en-US" sz="10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7406640" y="2286000"/>
          <a:ext cx="35661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3" name="Text 34"/>
          <p:cNvSpPr/>
          <p:nvPr/>
        </p:nvSpPr>
        <p:spPr>
          <a:xfrm>
            <a:off x="8366760" y="331012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post-formation</a:t>
            </a:r>
            <a:endParaRPr lang="en-US" sz="2200" dirty="0"/>
          </a:p>
        </p:txBody>
      </p:sp>
      <p:sp>
        <p:nvSpPr>
          <p:cNvPr id="44" name="Shape 35"/>
          <p:cNvSpPr/>
          <p:nvPr/>
        </p:nvSpPr>
        <p:spPr>
          <a:xfrm>
            <a:off x="7406640" y="5276088"/>
            <a:ext cx="146304" cy="146304"/>
          </a:xfrm>
          <a:prstGeom prst="ellipse">
            <a:avLst/>
          </a:prstGeom>
          <a:solidFill>
            <a:srgbClr val="2C4BE0"/>
          </a:solidFill>
          <a:ln/>
        </p:spPr>
      </p:sp>
      <p:sp>
        <p:nvSpPr>
          <p:cNvPr id="45" name="Text 36"/>
          <p:cNvSpPr/>
          <p:nvPr/>
        </p:nvSpPr>
        <p:spPr>
          <a:xfrm>
            <a:off x="7635240" y="52120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  </a:t>
            </a:r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7406640" y="5550408"/>
            <a:ext cx="146304" cy="146304"/>
          </a:xfrm>
          <a:prstGeom prst="ellipse">
            <a:avLst/>
          </a:prstGeom>
          <a:solidFill>
            <a:srgbClr val="B9C4F6"/>
          </a:solidFill>
          <a:ln/>
        </p:spPr>
      </p:sp>
      <p:sp>
        <p:nvSpPr>
          <p:cNvPr id="47" name="Text 38"/>
          <p:cNvSpPr/>
          <p:nvPr/>
        </p:nvSpPr>
        <p:spPr>
          <a:xfrm>
            <a:off x="7635240" y="54864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pool   </a:t>
            </a:r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48" name="Shape 39"/>
          <p:cNvSpPr/>
          <p:nvPr/>
        </p:nvSpPr>
        <p:spPr>
          <a:xfrm>
            <a:off x="7406640" y="5824728"/>
            <a:ext cx="146304" cy="146304"/>
          </a:xfrm>
          <a:prstGeom prst="ellipse">
            <a:avLst/>
          </a:prstGeom>
          <a:solidFill>
            <a:srgbClr val="EEF0F3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7635240" y="57607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(reserved)   </a:t>
            </a:r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  <p:sp>
        <p:nvSpPr>
          <p:cNvPr id="50" name="Text 41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AXAL VC · SPIN-OUT LAB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BASEPOINT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05672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$750K pre-seed to reach revenue.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$750K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96112" y="2971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raise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0116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76472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776472" y="2971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· $6M cap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6112" y="4114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896112" y="4800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38404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76472" y="4114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wks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3776472" y="4800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close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18288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 · 18-MONTH PLAN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3317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product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660904"/>
            <a:ext cx="5166360" cy="155448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2660904"/>
            <a:ext cx="2324862" cy="155448"/>
          </a:xfrm>
          <a:prstGeom prst="roundRect">
            <a:avLst>
              <a:gd name="adj" fmla="val 50000"/>
            </a:avLst>
          </a:prstGeom>
          <a:solidFill>
            <a:srgbClr val="2C4BE0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0815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0" y="3081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3410712"/>
            <a:ext cx="5166360" cy="155448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3410712"/>
            <a:ext cx="1291590" cy="155448"/>
          </a:xfrm>
          <a:prstGeom prst="roundRect">
            <a:avLst>
              <a:gd name="adj" fmla="val 50000"/>
            </a:avLst>
          </a:prstGeom>
          <a:solidFill>
            <a:srgbClr val="B9C4F6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8313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infrastructure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698480" y="38313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160520"/>
            <a:ext cx="5166360" cy="155448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5080" y="4160520"/>
            <a:ext cx="1033272" cy="155448"/>
          </a:xfrm>
          <a:prstGeom prst="roundRect">
            <a:avLst>
              <a:gd name="adj" fmla="val 50000"/>
            </a:avLst>
          </a:prstGeom>
          <a:solidFill>
            <a:srgbClr val="B9C4F6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45811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legal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698480" y="4581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4910328"/>
            <a:ext cx="5166360" cy="155448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33" name="Shape 31"/>
          <p:cNvSpPr/>
          <p:nvPr/>
        </p:nvSpPr>
        <p:spPr>
          <a:xfrm>
            <a:off x="6355080" y="4910328"/>
            <a:ext cx="516636" cy="155448"/>
          </a:xfrm>
          <a:prstGeom prst="roundRect">
            <a:avLst>
              <a:gd name="adj" fmla="val 50000"/>
            </a:avLst>
          </a:prstGeom>
          <a:solidFill>
            <a:srgbClr val="B9C4F6"/>
          </a:solidFill>
          <a:ln/>
        </p:spPr>
      </p:sp>
      <p:sp>
        <p:nvSpPr>
          <p:cNvPr id="34" name="Shape 32"/>
          <p:cNvSpPr/>
          <p:nvPr/>
        </p:nvSpPr>
        <p:spPr>
          <a:xfrm>
            <a:off x="6355080" y="5486400"/>
            <a:ext cx="5166360" cy="640080"/>
          </a:xfrm>
          <a:prstGeom prst="roundRect">
            <a:avLst>
              <a:gd name="adj" fmla="val 11429"/>
            </a:avLst>
          </a:prstGeom>
          <a:solidFill>
            <a:srgbClr val="E7EBFD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54864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us to:  </a:t>
            </a:r>
            <a:pPr indent="0" marL="0">
              <a:buNone/>
            </a:pPr>
            <a:r>
              <a:rPr lang="en-US" sz="1200" dirty="0">
                <a:solidFill>
                  <a:srgbClr val="121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paying lenders and seed-ready metrics.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AXAL VC · SPIN-OUT LAB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62472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E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BASEPOINT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READINESS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05672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room open. Ready to move.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 PACKAGE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171C25"/>
          </a:solidFill>
          <a:ln w="12700">
            <a:solidFill>
              <a:srgbClr val="2A3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546604"/>
            <a:ext cx="164592" cy="164592"/>
          </a:xfrm>
          <a:prstGeom prst="ellipse">
            <a:avLst/>
          </a:prstGeom>
          <a:solidFill>
            <a:srgbClr val="6E86F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377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0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80944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171C25"/>
          </a:solidFill>
          <a:ln w="12700">
            <a:solidFill>
              <a:srgbClr val="2A3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150108"/>
            <a:ext cx="164592" cy="164592"/>
          </a:xfrm>
          <a:prstGeom prst="ellipse">
            <a:avLst/>
          </a:prstGeom>
          <a:solidFill>
            <a:srgbClr val="6E86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9809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29809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0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84448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171C25"/>
          </a:solidFill>
          <a:ln w="12700">
            <a:solidFill>
              <a:srgbClr val="2A31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753612"/>
            <a:ext cx="164592" cy="164592"/>
          </a:xfrm>
          <a:prstGeom prst="ellipse">
            <a:avLst/>
          </a:prstGeom>
          <a:solidFill>
            <a:srgbClr val="6E86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5844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table &amp; legal docs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35844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0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187952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171C25"/>
          </a:solidFill>
          <a:ln w="12700">
            <a:solidFill>
              <a:srgbClr val="2A31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4357116"/>
            <a:ext cx="164592" cy="164592"/>
          </a:xfrm>
          <a:prstGeom prst="ellipse">
            <a:avLst/>
          </a:prstGeom>
          <a:solidFill>
            <a:srgbClr val="6E86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41879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references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34840" y="4187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0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request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791456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171C25"/>
          </a:solidFill>
          <a:ln w="12700">
            <a:solidFill>
              <a:srgbClr val="2A31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4960620"/>
            <a:ext cx="164592" cy="164592"/>
          </a:xfrm>
          <a:prstGeom prst="ellipse">
            <a:avLst/>
          </a:prstGeom>
          <a:solidFill>
            <a:srgbClr val="6E86FF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47914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34840" y="47914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0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required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20840" y="19659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20840" y="2377440"/>
            <a:ext cx="457200" cy="457200"/>
          </a:xfrm>
          <a:prstGeom prst="ellipse">
            <a:avLst/>
          </a:prstGeom>
          <a:solidFill>
            <a:srgbClr val="2C4BE0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60920" y="23774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30-minute intro call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20840" y="3154680"/>
            <a:ext cx="457200" cy="457200"/>
          </a:xfrm>
          <a:prstGeom prst="ellipse">
            <a:avLst/>
          </a:prstGeom>
          <a:solidFill>
            <a:srgbClr val="2C4BE0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60920" y="31546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room access granted same day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20840" y="3931920"/>
            <a:ext cx="457200" cy="457200"/>
          </a:xfrm>
          <a:prstGeom prst="ellipse">
            <a:avLst/>
          </a:prstGeom>
          <a:solidFill>
            <a:srgbClr val="2C4BE0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60920" y="3931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— target close in 8 weeks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720840" y="5074920"/>
            <a:ext cx="4800600" cy="0"/>
          </a:xfrm>
          <a:prstGeom prst="line">
            <a:avLst/>
          </a:prstGeom>
          <a:noFill/>
          <a:ln w="12700">
            <a:solidFill>
              <a:srgbClr val="2A31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5212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 diligence and intros this week.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720840" y="56692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maya@basepoint.xyz   ·   axal.vc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AXAL VC · SPIN-OUT LAB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Spin-out Demo Day</dc:title>
  <dc:subject>PptxGenJS Presentation</dc:subject>
  <dc:creator>Axal VC — Spin-out Lab</dc:creator>
  <cp:lastModifiedBy>Axal VC — Spin-out Lab</cp:lastModifiedBy>
  <cp:revision>1</cp:revision>
  <dcterms:created xsi:type="dcterms:W3CDTF">2026-06-15T12:18:43Z</dcterms:created>
  <dcterms:modified xsi:type="dcterms:W3CDTF">2026-06-15T12:18:43Z</dcterms:modified>
</cp:coreProperties>
</file>