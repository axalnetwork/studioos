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NovaCraft AI — the intelligent async layer for distributed teams. Pre-seed, incorporated, 83(b) filed. Readiness score 82 of 100. Lead with the discovery counts: 18 customers, 4 advisors, 2 co-founders, 6 investors.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Distributed teams lose hours to fragmented async work. Every pain point carries its mention count from 18 logged interviews — 14, 11, and 9. Read the Sarah T. quote verbatim; it is the sharpest articulation we captured.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intelligent layer across every async tool. Emphasise the Slack-native point — adoption requires zero workflow change, which is the objection most often raised.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walkthrough of the NovaCraft workspace. Three features to land: unified timeline, AI context surfacing, Slack-native. Keep this to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2.4 billion TAM at 18 percent CAGR, 340 million SAM, 34 million SOM. Both figures are sourced — Gartner 2025 and CB Insights Q1 2026. Confidence is medium on two sources; say so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competitors mapped by category and share. The whitespace claim is the point: no incumbent owns the async handoff between tools, which is the seam where the hours are actually lost.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1.8k MRR across 3 customers at 600 a month, growing 64 percent on a 3-month average. Every one of these customers converted from a logged discovery interview — that link is the strongest thing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Weeks 1–2 done, Weeks 3–4 in progress at 40 percent, then the 12-month scale plan. Public beta is the one open item in the current phase; do not claim it as shipped.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founders — ex-Stripe and ex-Notion infra — plus two advisors on GTM and enterprise SaaS. Name the skill gap directly: go-to-market and finance. The GTM advisor and the first GTM hire in use of funds are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750k pre-seed at a 6.5M post-money for 18 months of runway. Use of funds is 55 engineering, 30 GTM, 15 operations. Cap table is clean: 55 / 35 with a 10 percent pool, 83(b) filed 8 July.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Deal readiness summary. Data room is 4 of 6 complete — pitch deck and diligence room are the two outstanding items. Close on the contact address and offer the data room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image" Target="../media/image-8-17.png"/><Relationship Id="rId18" Type="http://schemas.openxmlformats.org/officeDocument/2006/relationships/image" Target="../media/image-8-18.sv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8B5CF6">
                  <a:alpha val="50000"/>
                </a:srgbClr>
              </a:gs>
              <a:gs pos="60000">
                <a:srgbClr val="8B5CF6">
                  <a:alpha val="0"/>
                </a:srgbClr>
              </a:gs>
            </a:gsLst>
            <a:path path="circle">
              <a:fillToRect l="16000" t="0" r="84000" b="100000"/>
            </a:path>
          </a:gradFill>
          <a:ln/>
        </p:spPr>
      </p:sp>
      <p:sp>
        <p:nvSpPr>
          <p:cNvPr id="4" name="Shape 2"/>
          <p:cNvSpPr/>
          <p:nvPr/>
        </p:nvSpPr>
        <p:spPr>
          <a:xfrm>
            <a:off x="762000" y="685800"/>
            <a:ext cx="457200" cy="457200"/>
          </a:xfrm>
          <a:prstGeom prst="roundRect">
            <a:avLst>
              <a:gd name="adj" fmla="val 27083"/>
            </a:avLst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0233" y="790575"/>
            <a:ext cx="23678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43025" y="804863"/>
            <a:ext cx="119136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CBC4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NovaCraft AI</a:t>
            </a:r>
            <a:endParaRPr lang="en-US" sz="1425" dirty="0"/>
          </a:p>
        </p:txBody>
      </p:sp>
      <p:sp>
        <p:nvSpPr>
          <p:cNvPr id="7" name="Shape 5"/>
          <p:cNvSpPr/>
          <p:nvPr/>
        </p:nvSpPr>
        <p:spPr>
          <a:xfrm>
            <a:off x="9745266" y="757238"/>
            <a:ext cx="1684734" cy="314325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07191" y="833438"/>
            <a:ext cx="143708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B7F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Pre-Seed · July 2026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62000" y="3038475"/>
            <a:ext cx="1173480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1225"/>
              </a:lnSpc>
              <a:buNone/>
            </a:pPr>
            <a:r>
              <a:rPr lang="en-US" sz="6900" b="1" spc="-241" kern="0" dirty="0">
                <a:gradFill rotWithShape="1">
                  <a:gsLst>
                    <a:gs pos="0">
                      <a:srgbClr val="FFFFFF">
                        <a:alpha val="100000"/>
                      </a:srgbClr>
                    </a:gs>
                    <a:gs pos="100000">
                      <a:srgbClr val="C4B5FD">
                        <a:alpha val="100000"/>
                      </a:srgbClr>
                    </a:gs>
                  </a:gsLst>
                  <a:lin ang="0" scaled="0"/>
                </a:gradFill>
                <a:latin typeface="Inter" pitchFamily="34" charset="0"/>
                <a:ea typeface="Inter" pitchFamily="34" charset="-122"/>
                <a:cs typeface="Inter" pitchFamily="34" charset="-120"/>
              </a:rPr>
              <a:t>NovaCraft AI</a:t>
            </a:r>
            <a:endParaRPr lang="en-US" sz="6900" dirty="0"/>
          </a:p>
        </p:txBody>
      </p:sp>
      <p:sp>
        <p:nvSpPr>
          <p:cNvPr id="10" name="Text 8"/>
          <p:cNvSpPr/>
          <p:nvPr/>
        </p:nvSpPr>
        <p:spPr>
          <a:xfrm>
            <a:off x="762000" y="4086225"/>
            <a:ext cx="942975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2250" dirty="0">
                <a:solidFill>
                  <a:srgbClr val="CBC4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intelligent async layer for distributed teams.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762000" y="4819650"/>
            <a:ext cx="2206377" cy="704850"/>
          </a:xfrm>
          <a:prstGeom prst="roundRect">
            <a:avLst>
              <a:gd name="adj" fmla="val 17568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2975" y="4972050"/>
            <a:ext cx="202887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25" b="1" spc="58" kern="0" dirty="0">
                <a:solidFill>
                  <a:srgbClr val="8B7F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SECTOR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942975" y="5153025"/>
            <a:ext cx="202887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SaaS · Workflow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3101727" y="4819650"/>
            <a:ext cx="2471738" cy="704850"/>
          </a:xfrm>
          <a:prstGeom prst="roundRect">
            <a:avLst>
              <a:gd name="adj" fmla="val 17568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82702" y="4972050"/>
            <a:ext cx="232076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25" b="1" spc="58" kern="0" dirty="0">
                <a:solidFill>
                  <a:srgbClr val="8B7F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STAGE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3282702" y="5153025"/>
            <a:ext cx="232076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Pre-seed / Incorporated</a:t>
            </a:r>
            <a:endParaRPr lang="en-US" sz="1425" dirty="0"/>
          </a:p>
        </p:txBody>
      </p:sp>
      <p:sp>
        <p:nvSpPr>
          <p:cNvPr id="17" name="Shape 15"/>
          <p:cNvSpPr/>
          <p:nvPr/>
        </p:nvSpPr>
        <p:spPr>
          <a:xfrm>
            <a:off x="5706814" y="4819650"/>
            <a:ext cx="1790700" cy="704850"/>
          </a:xfrm>
          <a:prstGeom prst="roundRect">
            <a:avLst>
              <a:gd name="adj" fmla="val 17568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87789" y="4972050"/>
            <a:ext cx="157162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25" b="1" spc="58" kern="0" dirty="0">
                <a:solidFill>
                  <a:srgbClr val="8B7F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5887789" y="5153025"/>
            <a:ext cx="157162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Guillaume L.</a:t>
            </a:r>
            <a:endParaRPr lang="en-US" sz="1425" dirty="0"/>
          </a:p>
        </p:txBody>
      </p:sp>
      <p:sp>
        <p:nvSpPr>
          <p:cNvPr id="20" name="Shape 18"/>
          <p:cNvSpPr/>
          <p:nvPr/>
        </p:nvSpPr>
        <p:spPr>
          <a:xfrm>
            <a:off x="7630864" y="4819650"/>
            <a:ext cx="1790700" cy="704850"/>
          </a:xfrm>
          <a:prstGeom prst="roundRect">
            <a:avLst>
              <a:gd name="adj" fmla="val 17568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11839" y="4972050"/>
            <a:ext cx="157162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25" b="1" spc="58" kern="0" dirty="0">
                <a:solidFill>
                  <a:srgbClr val="8B7F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VENTURE READINESS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7811839" y="5153025"/>
            <a:ext cx="157162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 / 100</a:t>
            </a:r>
            <a:endParaRPr lang="en-US" sz="1425" dirty="0"/>
          </a:p>
        </p:txBody>
      </p:sp>
      <p:sp>
        <p:nvSpPr>
          <p:cNvPr id="23" name="Shape 21"/>
          <p:cNvSpPr/>
          <p:nvPr/>
        </p:nvSpPr>
        <p:spPr>
          <a:xfrm>
            <a:off x="762000" y="5676900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762000" y="5953125"/>
            <a:ext cx="1470288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72" kern="0" dirty="0">
                <a:solidFill>
                  <a:srgbClr val="8B7F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TO DATE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308175" y="5876925"/>
            <a:ext cx="35629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2664470" y="5981700"/>
            <a:ext cx="76036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89F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596283" y="5876925"/>
            <a:ext cx="2501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3846463" y="5981700"/>
            <a:ext cx="62879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89F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646712" y="5876925"/>
            <a:ext cx="2363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4883051" y="5981700"/>
            <a:ext cx="87793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89F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Co-founders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932438" y="5876925"/>
            <a:ext cx="24333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6175772" y="5981700"/>
            <a:ext cx="65231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89F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Investors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11490275" y="6467475"/>
            <a:ext cx="35882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8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62000" y="533400"/>
            <a:ext cx="89222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spc="135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8133159" y="547688"/>
            <a:ext cx="362652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Pulled from Customer Discovery · 30 interviews logged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762000" y="923925"/>
            <a:ext cx="6024720" cy="971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259"/>
              </a:lnSpc>
              <a:buNone/>
            </a:pPr>
            <a:r>
              <a:rPr lang="en-US" sz="3300" b="1" spc="-66" kern="0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Distributed teams lose hours to fragmented async work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762000" y="2181225"/>
            <a:ext cx="5849243" cy="857250"/>
          </a:xfrm>
          <a:prstGeom prst="roundRect">
            <a:avLst>
              <a:gd name="adj" fmla="val 15556"/>
            </a:avLst>
          </a:prstGeom>
          <a:solidFill>
            <a:srgbClr val="F8F8FA"/>
          </a:solidFill>
          <a:ln w="9525">
            <a:solidFill>
              <a:srgbClr val="EDF2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2025" y="24669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FEE2E2"/>
          </a:solidFill>
          <a:ln/>
        </p:spPr>
      </p:sp>
      <p:sp>
        <p:nvSpPr>
          <p:cNvPr id="9" name="Text 7"/>
          <p:cNvSpPr/>
          <p:nvPr/>
        </p:nvSpPr>
        <p:spPr>
          <a:xfrm>
            <a:off x="1073348" y="2519363"/>
            <a:ext cx="13930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400175" y="2343150"/>
            <a:ext cx="430017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00"/>
              </a:lnSpc>
              <a:buNone/>
            </a:pPr>
            <a:r>
              <a:rPr lang="en-US" sz="1575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scattered across five disconnected tools</a:t>
            </a:r>
            <a:endParaRPr lang="en-US" sz="1575" dirty="0"/>
          </a:p>
        </p:txBody>
      </p:sp>
      <p:sp>
        <p:nvSpPr>
          <p:cNvPr id="11" name="Shape 9"/>
          <p:cNvSpPr/>
          <p:nvPr/>
        </p:nvSpPr>
        <p:spPr>
          <a:xfrm>
            <a:off x="5727502" y="2486025"/>
            <a:ext cx="683716" cy="24765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/>
        </p:spPr>
      </p:sp>
      <p:sp>
        <p:nvSpPr>
          <p:cNvPr id="12" name="Text 10"/>
          <p:cNvSpPr/>
          <p:nvPr/>
        </p:nvSpPr>
        <p:spPr>
          <a:xfrm>
            <a:off x="5841802" y="2533650"/>
            <a:ext cx="531316" cy="1905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of 18</a:t>
            </a:r>
            <a:endParaRPr lang="en-US" sz="975" dirty="0"/>
          </a:p>
        </p:txBody>
      </p:sp>
      <p:sp>
        <p:nvSpPr>
          <p:cNvPr id="13" name="Shape 11"/>
          <p:cNvSpPr/>
          <p:nvPr/>
        </p:nvSpPr>
        <p:spPr>
          <a:xfrm>
            <a:off x="762000" y="3209925"/>
            <a:ext cx="5849243" cy="857250"/>
          </a:xfrm>
          <a:prstGeom prst="roundRect">
            <a:avLst>
              <a:gd name="adj" fmla="val 15556"/>
            </a:avLst>
          </a:prstGeom>
          <a:solidFill>
            <a:srgbClr val="F8F8FA"/>
          </a:solidFill>
          <a:ln w="9525">
            <a:solidFill>
              <a:srgbClr val="ED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2025" y="34956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FEE2E2"/>
          </a:solidFill>
          <a:ln/>
        </p:spPr>
      </p:sp>
      <p:sp>
        <p:nvSpPr>
          <p:cNvPr id="15" name="Text 13"/>
          <p:cNvSpPr/>
          <p:nvPr/>
        </p:nvSpPr>
        <p:spPr>
          <a:xfrm>
            <a:off x="1059210" y="3548063"/>
            <a:ext cx="16743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1400175" y="3371850"/>
            <a:ext cx="4331446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00"/>
              </a:lnSpc>
              <a:buNone/>
            </a:pPr>
            <a:r>
              <a:rPr lang="en-US" sz="1575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single source of truth for decisions or status</a:t>
            </a:r>
            <a:endParaRPr lang="en-US" sz="1575" dirty="0"/>
          </a:p>
        </p:txBody>
      </p:sp>
      <p:sp>
        <p:nvSpPr>
          <p:cNvPr id="17" name="Shape 15"/>
          <p:cNvSpPr/>
          <p:nvPr/>
        </p:nvSpPr>
        <p:spPr>
          <a:xfrm>
            <a:off x="5757863" y="3514725"/>
            <a:ext cx="653355" cy="24765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/>
        </p:spPr>
      </p:sp>
      <p:sp>
        <p:nvSpPr>
          <p:cNvPr id="18" name="Text 16"/>
          <p:cNvSpPr/>
          <p:nvPr/>
        </p:nvSpPr>
        <p:spPr>
          <a:xfrm>
            <a:off x="5872163" y="3562350"/>
            <a:ext cx="500955" cy="1905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18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762000" y="4238625"/>
            <a:ext cx="5849243" cy="857250"/>
          </a:xfrm>
          <a:prstGeom prst="roundRect">
            <a:avLst>
              <a:gd name="adj" fmla="val 15556"/>
            </a:avLst>
          </a:prstGeom>
          <a:solidFill>
            <a:srgbClr val="F8F8FA"/>
          </a:solidFill>
          <a:ln w="9525">
            <a:solidFill>
              <a:srgbClr val="EDF2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2025" y="45243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FEE2E2"/>
          </a:solidFill>
          <a:ln/>
        </p:spPr>
      </p:sp>
      <p:sp>
        <p:nvSpPr>
          <p:cNvPr id="21" name="Text 19"/>
          <p:cNvSpPr/>
          <p:nvPr/>
        </p:nvSpPr>
        <p:spPr>
          <a:xfrm>
            <a:off x="1057870" y="4576763"/>
            <a:ext cx="17011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1400175" y="4400550"/>
            <a:ext cx="435857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00"/>
              </a:lnSpc>
              <a:buNone/>
            </a:pPr>
            <a:r>
              <a:rPr lang="en-US" sz="1575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Cross-timezone handoffs take 3x longer than they should</a:t>
            </a:r>
            <a:endParaRPr lang="en-US" sz="1575" dirty="0"/>
          </a:p>
        </p:txBody>
      </p:sp>
      <p:sp>
        <p:nvSpPr>
          <p:cNvPr id="23" name="Shape 21"/>
          <p:cNvSpPr/>
          <p:nvPr/>
        </p:nvSpPr>
        <p:spPr>
          <a:xfrm>
            <a:off x="5784205" y="4543425"/>
            <a:ext cx="627013" cy="24765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/>
        </p:spPr>
      </p:sp>
      <p:sp>
        <p:nvSpPr>
          <p:cNvPr id="24" name="Text 22"/>
          <p:cNvSpPr/>
          <p:nvPr/>
        </p:nvSpPr>
        <p:spPr>
          <a:xfrm>
            <a:off x="5898505" y="4591050"/>
            <a:ext cx="474613" cy="1905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18</a:t>
            </a:r>
            <a:endParaRPr lang="en-US" sz="975" dirty="0"/>
          </a:p>
        </p:txBody>
      </p:sp>
      <p:sp>
        <p:nvSpPr>
          <p:cNvPr id="25" name="Shape 23"/>
          <p:cNvSpPr/>
          <p:nvPr/>
        </p:nvSpPr>
        <p:spPr>
          <a:xfrm>
            <a:off x="7106543" y="923925"/>
            <a:ext cx="4323457" cy="1238250"/>
          </a:xfrm>
          <a:prstGeom prst="roundRect">
            <a:avLst>
              <a:gd name="adj" fmla="val 12308"/>
            </a:avLst>
          </a:prstGeom>
          <a:solidFill>
            <a:srgbClr val="F7F5FF"/>
          </a:solidFill>
          <a:ln w="9525">
            <a:solidFill>
              <a:srgbClr val="E9E4F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44668" y="1162050"/>
            <a:ext cx="4231928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72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FEELS THIS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344668" y="1390650"/>
            <a:ext cx="396262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1500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Ops leads at distributed SaaS companies, 50–500 employees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106543" y="2352675"/>
            <a:ext cx="4323457" cy="3105150"/>
          </a:xfrm>
          <a:prstGeom prst="roundRect">
            <a:avLst>
              <a:gd name="adj" fmla="val 4908"/>
            </a:avLst>
          </a:prstGeom>
          <a:solidFill>
            <a:srgbClr val="17142E"/>
          </a:solidFill>
          <a:ln/>
        </p:spPr>
      </p:sp>
      <p:sp>
        <p:nvSpPr>
          <p:cNvPr id="29" name="Text 27"/>
          <p:cNvSpPr/>
          <p:nvPr/>
        </p:nvSpPr>
        <p:spPr>
          <a:xfrm>
            <a:off x="7392293" y="3019425"/>
            <a:ext cx="412715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50000"/>
              </a:lnSpc>
              <a:buNone/>
            </a:pPr>
            <a:r>
              <a:rPr lang="en-US" sz="4950" b="1" dirty="0">
                <a:solidFill>
                  <a:srgbClr val="8B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</a:t>
            </a:r>
            <a:endParaRPr lang="en-US" sz="4950" dirty="0"/>
          </a:p>
        </p:txBody>
      </p:sp>
      <p:sp>
        <p:nvSpPr>
          <p:cNvPr id="30" name="Text 28"/>
          <p:cNvSpPr/>
          <p:nvPr/>
        </p:nvSpPr>
        <p:spPr>
          <a:xfrm>
            <a:off x="7392293" y="3314700"/>
            <a:ext cx="3864516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107"/>
              </a:lnSpc>
              <a:buNone/>
            </a:pPr>
            <a:r>
              <a:rPr lang="en-US" sz="1725" i="1" dirty="0">
                <a:solidFill>
                  <a:srgbClr val="E9E4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tools don’t handle async workflows — we lose the thread constantly.</a:t>
            </a:r>
            <a:endParaRPr lang="en-US" sz="1725" dirty="0"/>
          </a:p>
        </p:txBody>
      </p:sp>
      <p:sp>
        <p:nvSpPr>
          <p:cNvPr id="31" name="Shape 29"/>
          <p:cNvSpPr/>
          <p:nvPr/>
        </p:nvSpPr>
        <p:spPr>
          <a:xfrm>
            <a:off x="7392293" y="4448175"/>
            <a:ext cx="342900" cy="342900"/>
          </a:xfrm>
          <a:prstGeom prst="ellipse">
            <a:avLst/>
          </a:prstGeom>
          <a:solidFill>
            <a:srgbClr val="6B46C1"/>
          </a:solidFill>
          <a:ln/>
        </p:spPr>
      </p:sp>
      <p:sp>
        <p:nvSpPr>
          <p:cNvPr id="32" name="Text 30"/>
          <p:cNvSpPr/>
          <p:nvPr/>
        </p:nvSpPr>
        <p:spPr>
          <a:xfrm>
            <a:off x="7482185" y="4543425"/>
            <a:ext cx="239167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</a:t>
            </a:r>
            <a:endParaRPr lang="en-US" sz="975" dirty="0"/>
          </a:p>
        </p:txBody>
      </p:sp>
      <p:sp>
        <p:nvSpPr>
          <p:cNvPr id="33" name="Text 31"/>
          <p:cNvSpPr/>
          <p:nvPr/>
        </p:nvSpPr>
        <p:spPr>
          <a:xfrm>
            <a:off x="7839968" y="4452938"/>
            <a:ext cx="234663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Sarah T.</a:t>
            </a:r>
            <a:endParaRPr lang="en-US" sz="1125" dirty="0"/>
          </a:p>
        </p:txBody>
      </p:sp>
      <p:sp>
        <p:nvSpPr>
          <p:cNvPr id="34" name="Text 32"/>
          <p:cNvSpPr/>
          <p:nvPr/>
        </p:nvSpPr>
        <p:spPr>
          <a:xfrm>
            <a:off x="7839968" y="4633913"/>
            <a:ext cx="234663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A89F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VP Ops · SaaS · Customer Discovery</a:t>
            </a:r>
            <a:endParaRPr lang="en-US" sz="975" dirty="0"/>
          </a:p>
        </p:txBody>
      </p:sp>
      <p:sp>
        <p:nvSpPr>
          <p:cNvPr id="35" name="Shape 33"/>
          <p:cNvSpPr/>
          <p:nvPr/>
        </p:nvSpPr>
        <p:spPr>
          <a:xfrm>
            <a:off x="762000" y="5667375"/>
            <a:ext cx="1066800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6" name="Text 34"/>
          <p:cNvSpPr/>
          <p:nvPr/>
        </p:nvSpPr>
        <p:spPr>
          <a:xfrm>
            <a:off x="762000" y="5962650"/>
            <a:ext cx="99060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893"/>
              </a:lnSpc>
              <a:buNone/>
            </a:pPr>
            <a:r>
              <a:rPr lang="en-US" sz="863" b="1" spc="78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EVIDENCE</a:t>
            </a:r>
            <a:endParaRPr lang="en-US" sz="863" dirty="0"/>
          </a:p>
        </p:txBody>
      </p:sp>
      <p:sp>
        <p:nvSpPr>
          <p:cNvPr id="37" name="Text 35"/>
          <p:cNvSpPr/>
          <p:nvPr/>
        </p:nvSpPr>
        <p:spPr>
          <a:xfrm>
            <a:off x="1924050" y="5886450"/>
            <a:ext cx="109135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2353"/>
              </a:lnSpc>
              <a:buNone/>
            </a:pPr>
            <a:r>
              <a:rPr lang="en-US" sz="2100" b="1" spc="-42" kern="0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1924050" y="6181725"/>
            <a:ext cx="109135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Interviews logged</a:t>
            </a:r>
            <a:endParaRPr lang="en-US" sz="938" dirty="0"/>
          </a:p>
        </p:txBody>
      </p:sp>
      <p:sp>
        <p:nvSpPr>
          <p:cNvPr id="39" name="Text 37"/>
          <p:cNvSpPr/>
          <p:nvPr/>
        </p:nvSpPr>
        <p:spPr>
          <a:xfrm>
            <a:off x="3167807" y="5886450"/>
            <a:ext cx="84742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2353"/>
              </a:lnSpc>
              <a:buNone/>
            </a:pPr>
            <a:r>
              <a:rPr lang="en-US" sz="2100" b="1" spc="-42" kern="0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3167807" y="6181725"/>
            <a:ext cx="84742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Distinct pains</a:t>
            </a:r>
            <a:endParaRPr lang="en-US" sz="938" dirty="0"/>
          </a:p>
        </p:txBody>
      </p:sp>
      <p:sp>
        <p:nvSpPr>
          <p:cNvPr id="41" name="Text 39"/>
          <p:cNvSpPr/>
          <p:nvPr/>
        </p:nvSpPr>
        <p:spPr>
          <a:xfrm>
            <a:off x="4167634" y="5886450"/>
            <a:ext cx="13584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2353"/>
              </a:lnSpc>
              <a:buNone/>
            </a:pPr>
            <a:r>
              <a:rPr lang="en-US" sz="2100" b="1" spc="-42" kern="0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5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167634" y="6181725"/>
            <a:ext cx="135847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Hypotheses validated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6620619" y="5848350"/>
            <a:ext cx="971550" cy="514350"/>
          </a:xfrm>
          <a:prstGeom prst="roundRect">
            <a:avLst>
              <a:gd name="adj" fmla="val 20370"/>
            </a:avLst>
          </a:prstGeom>
          <a:solidFill>
            <a:srgbClr val="F8F8FA"/>
          </a:solidFill>
          <a:ln w="9525">
            <a:solidFill>
              <a:srgbClr val="EDF2F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715869" y="5943600"/>
            <a:ext cx="78105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82609"/>
              </a:lnSpc>
              <a:buNone/>
            </a:pPr>
            <a:r>
              <a:rPr lang="en-US" sz="1425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425" dirty="0"/>
          </a:p>
        </p:txBody>
      </p:sp>
      <p:sp>
        <p:nvSpPr>
          <p:cNvPr id="45" name="Text 43"/>
          <p:cNvSpPr/>
          <p:nvPr/>
        </p:nvSpPr>
        <p:spPr>
          <a:xfrm>
            <a:off x="6715869" y="6153150"/>
            <a:ext cx="781050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6923"/>
              </a:lnSpc>
              <a:buNone/>
            </a:pPr>
            <a:r>
              <a:rPr lang="en-US" sz="788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Reached</a:t>
            </a:r>
            <a:endParaRPr lang="en-US" sz="788" dirty="0"/>
          </a:p>
        </p:txBody>
      </p:sp>
      <p:sp>
        <p:nvSpPr>
          <p:cNvPr id="46" name="Text 44"/>
          <p:cNvSpPr/>
          <p:nvPr/>
        </p:nvSpPr>
        <p:spPr>
          <a:xfrm>
            <a:off x="7677894" y="6015038"/>
            <a:ext cx="20344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CBD5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7890867" y="5848350"/>
            <a:ext cx="971550" cy="514350"/>
          </a:xfrm>
          <a:prstGeom prst="roundRect">
            <a:avLst>
              <a:gd name="adj" fmla="val 20370"/>
            </a:avLst>
          </a:prstGeom>
          <a:solidFill>
            <a:srgbClr val="F8F8FA"/>
          </a:solidFill>
          <a:ln w="9525">
            <a:solidFill>
              <a:srgbClr val="EDF2F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86117" y="5943600"/>
            <a:ext cx="78105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82609"/>
              </a:lnSpc>
              <a:buNone/>
            </a:pPr>
            <a:r>
              <a:rPr lang="en-US" sz="1425" b="1" dirty="0">
                <a:solidFill>
                  <a:srgbClr val="8B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425" dirty="0"/>
          </a:p>
        </p:txBody>
      </p:sp>
      <p:sp>
        <p:nvSpPr>
          <p:cNvPr id="49" name="Text 47"/>
          <p:cNvSpPr/>
          <p:nvPr/>
        </p:nvSpPr>
        <p:spPr>
          <a:xfrm>
            <a:off x="7986117" y="6153150"/>
            <a:ext cx="781050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6923"/>
              </a:lnSpc>
              <a:buNone/>
            </a:pPr>
            <a:r>
              <a:rPr lang="en-US" sz="788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Qualified</a:t>
            </a:r>
            <a:endParaRPr lang="en-US" sz="788" dirty="0"/>
          </a:p>
        </p:txBody>
      </p:sp>
      <p:sp>
        <p:nvSpPr>
          <p:cNvPr id="50" name="Text 48"/>
          <p:cNvSpPr/>
          <p:nvPr/>
        </p:nvSpPr>
        <p:spPr>
          <a:xfrm>
            <a:off x="8948142" y="6015038"/>
            <a:ext cx="20344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CBD5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125" dirty="0"/>
          </a:p>
        </p:txBody>
      </p:sp>
      <p:sp>
        <p:nvSpPr>
          <p:cNvPr id="51" name="Shape 49"/>
          <p:cNvSpPr/>
          <p:nvPr/>
        </p:nvSpPr>
        <p:spPr>
          <a:xfrm>
            <a:off x="9161115" y="5848350"/>
            <a:ext cx="998637" cy="514350"/>
          </a:xfrm>
          <a:prstGeom prst="roundRect">
            <a:avLst>
              <a:gd name="adj" fmla="val 20370"/>
            </a:avLst>
          </a:prstGeom>
          <a:solidFill>
            <a:srgbClr val="F8F8FA"/>
          </a:solidFill>
          <a:ln w="9525">
            <a:solidFill>
              <a:srgbClr val="EDF2F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56365" y="5943600"/>
            <a:ext cx="80813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82609"/>
              </a:lnSpc>
              <a:buNone/>
            </a:pPr>
            <a:r>
              <a:rPr lang="en-US" sz="1425" b="1" dirty="0">
                <a:solidFill>
                  <a:srgbClr val="A78B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425" dirty="0"/>
          </a:p>
        </p:txBody>
      </p:sp>
      <p:sp>
        <p:nvSpPr>
          <p:cNvPr id="53" name="Text 51"/>
          <p:cNvSpPr/>
          <p:nvPr/>
        </p:nvSpPr>
        <p:spPr>
          <a:xfrm>
            <a:off x="9256365" y="6153150"/>
            <a:ext cx="808137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6923"/>
              </a:lnSpc>
              <a:buNone/>
            </a:pPr>
            <a:r>
              <a:rPr lang="en-US" sz="788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 confirmed</a:t>
            </a:r>
            <a:endParaRPr lang="en-US" sz="788" dirty="0"/>
          </a:p>
        </p:txBody>
      </p:sp>
      <p:sp>
        <p:nvSpPr>
          <p:cNvPr id="54" name="Text 52"/>
          <p:cNvSpPr/>
          <p:nvPr/>
        </p:nvSpPr>
        <p:spPr>
          <a:xfrm>
            <a:off x="10245477" y="6015038"/>
            <a:ext cx="20344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CBD5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125" dirty="0"/>
          </a:p>
        </p:txBody>
      </p:sp>
      <p:sp>
        <p:nvSpPr>
          <p:cNvPr id="55" name="Shape 53"/>
          <p:cNvSpPr/>
          <p:nvPr/>
        </p:nvSpPr>
        <p:spPr>
          <a:xfrm>
            <a:off x="10458450" y="5848350"/>
            <a:ext cx="971550" cy="514350"/>
          </a:xfrm>
          <a:prstGeom prst="roundRect">
            <a:avLst>
              <a:gd name="adj" fmla="val 20370"/>
            </a:avLst>
          </a:prstGeom>
          <a:solidFill>
            <a:srgbClr val="F8F8FA"/>
          </a:solidFill>
          <a:ln w="9525">
            <a:solidFill>
              <a:srgbClr val="EDF2F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553700" y="5943600"/>
            <a:ext cx="78105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82609"/>
              </a:lnSpc>
              <a:buNone/>
            </a:pPr>
            <a:r>
              <a:rPr lang="en-US" sz="1425" b="1" dirty="0">
                <a:solidFill>
                  <a:srgbClr val="C4B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25" dirty="0"/>
          </a:p>
        </p:txBody>
      </p:sp>
      <p:sp>
        <p:nvSpPr>
          <p:cNvPr id="57" name="Text 55"/>
          <p:cNvSpPr/>
          <p:nvPr/>
        </p:nvSpPr>
        <p:spPr>
          <a:xfrm>
            <a:off x="10553700" y="6153150"/>
            <a:ext cx="781050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6923"/>
              </a:lnSpc>
              <a:buNone/>
            </a:pPr>
            <a:r>
              <a:rPr lang="en-US" sz="788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Solution-fit</a:t>
            </a:r>
            <a:endParaRPr lang="en-US" sz="78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11488787" y="6467475"/>
            <a:ext cx="36031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8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62000" y="609600"/>
            <a:ext cx="1173480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spc="135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762000" y="1038225"/>
            <a:ext cx="5899480" cy="971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259"/>
              </a:lnSpc>
              <a:buNone/>
            </a:pPr>
            <a:r>
              <a:rPr lang="en-US" sz="3300" b="1" spc="-66" kern="0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intelligent layer across every async tool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762000" y="22764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F0FFF4"/>
          </a:solidFill>
          <a:ln/>
        </p:spPr>
      </p:sp>
      <p:sp>
        <p:nvSpPr>
          <p:cNvPr id="7" name="Text 5"/>
          <p:cNvSpPr/>
          <p:nvPr/>
        </p:nvSpPr>
        <p:spPr>
          <a:xfrm>
            <a:off x="723900" y="2276475"/>
            <a:ext cx="3619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90625" y="2276475"/>
            <a:ext cx="539902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920"/>
              </a:lnSpc>
              <a:buNone/>
            </a:pPr>
            <a:r>
              <a:rPr lang="en-US" sz="1575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Unifies threads, docs, and decisions in one timeline</a:t>
            </a:r>
            <a:endParaRPr lang="en-US" sz="1575" dirty="0"/>
          </a:p>
        </p:txBody>
      </p:sp>
      <p:sp>
        <p:nvSpPr>
          <p:cNvPr id="9" name="Shape 7"/>
          <p:cNvSpPr/>
          <p:nvPr/>
        </p:nvSpPr>
        <p:spPr>
          <a:xfrm>
            <a:off x="762000" y="27336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F0FFF4"/>
          </a:solidFill>
          <a:ln/>
        </p:spPr>
      </p:sp>
      <p:sp>
        <p:nvSpPr>
          <p:cNvPr id="10" name="Text 8"/>
          <p:cNvSpPr/>
          <p:nvPr/>
        </p:nvSpPr>
        <p:spPr>
          <a:xfrm>
            <a:off x="723900" y="2733675"/>
            <a:ext cx="3619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90625" y="2733675"/>
            <a:ext cx="539034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920"/>
              </a:lnSpc>
              <a:buNone/>
            </a:pPr>
            <a:r>
              <a:rPr lang="en-US" sz="1575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surfaces the context you need, when you need it</a:t>
            </a:r>
            <a:endParaRPr lang="en-US" sz="1575" dirty="0"/>
          </a:p>
        </p:txBody>
      </p:sp>
      <p:sp>
        <p:nvSpPr>
          <p:cNvPr id="12" name="Shape 10"/>
          <p:cNvSpPr/>
          <p:nvPr/>
        </p:nvSpPr>
        <p:spPr>
          <a:xfrm>
            <a:off x="762000" y="31908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F0FFF4"/>
          </a:solidFill>
          <a:ln/>
        </p:spPr>
      </p:sp>
      <p:sp>
        <p:nvSpPr>
          <p:cNvPr id="13" name="Text 11"/>
          <p:cNvSpPr/>
          <p:nvPr/>
        </p:nvSpPr>
        <p:spPr>
          <a:xfrm>
            <a:off x="723900" y="3190875"/>
            <a:ext cx="3619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90625" y="3190875"/>
            <a:ext cx="516622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920"/>
              </a:lnSpc>
              <a:buNone/>
            </a:pPr>
            <a:r>
              <a:rPr lang="en-US" sz="1575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Slack integration — zero workflow change</a:t>
            </a:r>
            <a:endParaRPr lang="en-US" sz="1575" dirty="0"/>
          </a:p>
        </p:txBody>
      </p:sp>
      <p:sp>
        <p:nvSpPr>
          <p:cNvPr id="15" name="Shape 13"/>
          <p:cNvSpPr/>
          <p:nvPr/>
        </p:nvSpPr>
        <p:spPr>
          <a:xfrm>
            <a:off x="762000" y="3762375"/>
            <a:ext cx="5727650" cy="800100"/>
          </a:xfrm>
          <a:prstGeom prst="roundRect">
            <a:avLst>
              <a:gd name="adj" fmla="val 16667"/>
            </a:avLst>
          </a:prstGeom>
          <a:solidFill>
            <a:srgbClr val="F7F5FF"/>
          </a:solidFill>
          <a:ln w="9525">
            <a:solidFill>
              <a:srgbClr val="E9E4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1075" y="4000500"/>
            <a:ext cx="158151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72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UNFAIR ADVANTAGE ·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81075" y="3943350"/>
            <a:ext cx="509153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Cross-team workflow graph competitors can’t replicate</a:t>
            </a:r>
            <a:endParaRPr lang="en-US" sz="1425" dirty="0"/>
          </a:p>
        </p:txBody>
      </p:sp>
      <p:sp>
        <p:nvSpPr>
          <p:cNvPr id="18" name="Shape 16"/>
          <p:cNvSpPr/>
          <p:nvPr/>
        </p:nvSpPr>
        <p:spPr>
          <a:xfrm>
            <a:off x="6984950" y="2619375"/>
            <a:ext cx="4445050" cy="2047875"/>
          </a:xfrm>
          <a:prstGeom prst="roundRect">
            <a:avLst>
              <a:gd name="adj" fmla="val 8372"/>
            </a:avLst>
          </a:prstGeom>
          <a:solidFill>
            <a:srgbClr val="F8F8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94475" y="2628900"/>
            <a:ext cx="4426000" cy="1019175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0" name="Shape 18"/>
          <p:cNvSpPr/>
          <p:nvPr/>
        </p:nvSpPr>
        <p:spPr>
          <a:xfrm>
            <a:off x="6994475" y="3638550"/>
            <a:ext cx="4426000" cy="9525"/>
          </a:xfrm>
          <a:prstGeom prst="rect">
            <a:avLst/>
          </a:prstGeom>
          <a:solidFill>
            <a:srgbClr val="FED7D7"/>
          </a:solidFill>
          <a:ln/>
        </p:spPr>
      </p:sp>
      <p:sp>
        <p:nvSpPr>
          <p:cNvPr id="21" name="Text 19"/>
          <p:cNvSpPr/>
          <p:nvPr/>
        </p:nvSpPr>
        <p:spPr>
          <a:xfrm>
            <a:off x="7280225" y="2876550"/>
            <a:ext cx="855166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C530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8059192" y="2876550"/>
            <a:ext cx="3167799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500" dirty="0">
                <a:solidFill>
                  <a:srgbClr val="74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tools · scattered context · slow handoffs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94475" y="3648075"/>
            <a:ext cx="4426000" cy="1009650"/>
          </a:xfrm>
          <a:prstGeom prst="rect">
            <a:avLst/>
          </a:prstGeom>
          <a:solidFill>
            <a:srgbClr val="F0FFF4"/>
          </a:solidFill>
          <a:ln/>
        </p:spPr>
      </p:sp>
      <p:sp>
        <p:nvSpPr>
          <p:cNvPr id="24" name="Text 22"/>
          <p:cNvSpPr/>
          <p:nvPr/>
        </p:nvSpPr>
        <p:spPr>
          <a:xfrm>
            <a:off x="7280225" y="3895725"/>
            <a:ext cx="867817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F85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125" dirty="0"/>
          </a:p>
        </p:txBody>
      </p:sp>
      <p:sp>
        <p:nvSpPr>
          <p:cNvPr id="25" name="Text 23"/>
          <p:cNvSpPr/>
          <p:nvPr/>
        </p:nvSpPr>
        <p:spPr>
          <a:xfrm>
            <a:off x="8071842" y="3895725"/>
            <a:ext cx="3154769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500" dirty="0">
                <a:solidFill>
                  <a:srgbClr val="2254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layer · shared context · instant handoffs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11485364" y="6467475"/>
            <a:ext cx="363736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8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62000" y="571500"/>
            <a:ext cx="413402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spc="135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762000" y="828675"/>
            <a:ext cx="4134029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spc="-57" kern="0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NovaCraft workspace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912846" y="738188"/>
            <a:ext cx="1517154" cy="361950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7" name="Text 5"/>
          <p:cNvSpPr/>
          <p:nvPr/>
        </p:nvSpPr>
        <p:spPr>
          <a:xfrm>
            <a:off x="10103346" y="823913"/>
            <a:ext cx="121235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novacraft.ai </a:t>
            </a:r>
            <a:pPr algn="l" indent="0" marL="0">
              <a:buNone/>
            </a:pPr>
            <a:r>
              <a:rPr lang="en-US" sz="1275" b="1" dirty="0">
                <a:solidFill>
                  <a:srgbClr val="6B46C1"/>
                </a:solidFill>
                <a:highlight>
                  <a:srgbClr val="EDE9FE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762000" y="1476375"/>
            <a:ext cx="10668000" cy="4010025"/>
          </a:xfrm>
          <a:prstGeom prst="roundRect">
            <a:avLst>
              <a:gd name="adj" fmla="val 4276"/>
            </a:avLst>
          </a:prstGeom>
          <a:solidFill>
            <a:srgbClr val="17142E"/>
          </a:solidFill>
          <a:ln/>
        </p:spPr>
      </p:sp>
      <p:sp>
        <p:nvSpPr>
          <p:cNvPr id="9" name="Shape 7"/>
          <p:cNvSpPr/>
          <p:nvPr/>
        </p:nvSpPr>
        <p:spPr>
          <a:xfrm>
            <a:off x="952500" y="1647825"/>
            <a:ext cx="123825" cy="123825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0" name="Shape 8"/>
          <p:cNvSpPr/>
          <p:nvPr/>
        </p:nvSpPr>
        <p:spPr>
          <a:xfrm>
            <a:off x="1162050" y="1647825"/>
            <a:ext cx="123825" cy="123825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647825"/>
            <a:ext cx="123825" cy="123825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2" name="Shape 10"/>
          <p:cNvSpPr/>
          <p:nvPr/>
        </p:nvSpPr>
        <p:spPr>
          <a:xfrm>
            <a:off x="5724525" y="2947988"/>
            <a:ext cx="742950" cy="742950"/>
          </a:xfrm>
          <a:prstGeom prst="roundRect">
            <a:avLst>
              <a:gd name="adj" fmla="val 20513"/>
            </a:avLst>
          </a:prstGeom>
          <a:ln w="19050">
            <a:solidFill>
              <a:srgbClr val="8B7F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15038" y="3186113"/>
            <a:ext cx="209550" cy="266700"/>
          </a:xfrm>
          <a:prstGeom prst="rect">
            <a:avLst/>
          </a:prstGeom>
          <a:solidFill>
            <a:srgbClr val="8B7FC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5985" y="3824288"/>
            <a:ext cx="21400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275" dirty="0">
                <a:solidFill>
                  <a:srgbClr val="8B7F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product walkthrough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762000" y="5676900"/>
            <a:ext cx="3467100" cy="609600"/>
          </a:xfrm>
          <a:prstGeom prst="roundRect">
            <a:avLst>
              <a:gd name="adj" fmla="val 20312"/>
            </a:avLst>
          </a:prstGeom>
          <a:solidFill>
            <a:srgbClr val="F8F8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2025" y="58578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DE9FE"/>
          </a:solidFill>
          <a:ln/>
        </p:spPr>
      </p:sp>
      <p:sp>
        <p:nvSpPr>
          <p:cNvPr id="17" name="Text 15"/>
          <p:cNvSpPr/>
          <p:nvPr/>
        </p:nvSpPr>
        <p:spPr>
          <a:xfrm>
            <a:off x="1056382" y="5900738"/>
            <a:ext cx="135136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323975" y="5881688"/>
            <a:ext cx="142690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timeline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62450" y="5676900"/>
            <a:ext cx="3467100" cy="609600"/>
          </a:xfrm>
          <a:prstGeom prst="roundRect">
            <a:avLst>
              <a:gd name="adj" fmla="val 20312"/>
            </a:avLst>
          </a:prstGeom>
          <a:solidFill>
            <a:srgbClr val="F8F8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62475" y="58578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DE9FE"/>
          </a:solidFill>
          <a:ln/>
        </p:spPr>
      </p:sp>
      <p:sp>
        <p:nvSpPr>
          <p:cNvPr id="21" name="Text 19"/>
          <p:cNvSpPr/>
          <p:nvPr/>
        </p:nvSpPr>
        <p:spPr>
          <a:xfrm>
            <a:off x="4643735" y="5900738"/>
            <a:ext cx="16133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924425" y="5881688"/>
            <a:ext cx="184191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context surfacing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962900" y="5676900"/>
            <a:ext cx="3467100" cy="609600"/>
          </a:xfrm>
          <a:prstGeom prst="roundRect">
            <a:avLst>
              <a:gd name="adj" fmla="val 20312"/>
            </a:avLst>
          </a:prstGeom>
          <a:solidFill>
            <a:srgbClr val="F8F8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62925" y="58578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DE9FE"/>
          </a:solidFill>
          <a:ln/>
        </p:spPr>
      </p:sp>
      <p:sp>
        <p:nvSpPr>
          <p:cNvPr id="25" name="Text 23"/>
          <p:cNvSpPr/>
          <p:nvPr/>
        </p:nvSpPr>
        <p:spPr>
          <a:xfrm>
            <a:off x="8242846" y="5900738"/>
            <a:ext cx="16386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24875" y="5881688"/>
            <a:ext cx="11068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Slack-native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11491466" y="6467475"/>
            <a:ext cx="357634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8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62000" y="647700"/>
            <a:ext cx="80783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spc="135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482286" y="661988"/>
            <a:ext cx="214248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Pulled from Market Intel · Week 1</a:t>
            </a:r>
            <a:endParaRPr lang="en-US" sz="975" dirty="0"/>
          </a:p>
        </p:txBody>
      </p:sp>
      <p:sp>
        <p:nvSpPr>
          <p:cNvPr id="6" name="Shape 4"/>
          <p:cNvSpPr/>
          <p:nvPr/>
        </p:nvSpPr>
        <p:spPr>
          <a:xfrm>
            <a:off x="762000" y="1114425"/>
            <a:ext cx="4327029" cy="1847850"/>
          </a:xfrm>
          <a:prstGeom prst="roundRect">
            <a:avLst>
              <a:gd name="adj" fmla="val 9278"/>
            </a:avLst>
          </a:prstGeom>
          <a:gradFill rotWithShape="1">
            <a:gsLst>
              <a:gs pos="0">
                <a:srgbClr val="6B46C1">
                  <a:alpha val="100000"/>
                </a:srgbClr>
              </a:gs>
              <a:gs pos="100000">
                <a:srgbClr val="553C9A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7" name="Text 5"/>
          <p:cNvSpPr/>
          <p:nvPr/>
        </p:nvSpPr>
        <p:spPr>
          <a:xfrm>
            <a:off x="1047750" y="1385888"/>
            <a:ext cx="209615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spc="59" kern="0" dirty="0">
                <a:solidFill>
                  <a:srgbClr val="E9D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 · TOTAL ADDRESSABLE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3048595" y="1362075"/>
            <a:ext cx="917377" cy="200025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143845" y="1390650"/>
            <a:ext cx="80307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highlight>
                  <a:srgbClr val="FFFF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↑</a:t>
            </a:r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18% </a:t>
            </a:r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highlight>
                  <a:srgbClr val="FFFF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CAGR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47750" y="1619250"/>
            <a:ext cx="4131082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2500"/>
              </a:lnSpc>
              <a:buNone/>
            </a:pPr>
            <a:r>
              <a:rPr lang="en-US" sz="4950" b="1" spc="-148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$2.4B</a:t>
            </a:r>
            <a:endParaRPr lang="en-US" sz="4950" dirty="0"/>
          </a:p>
        </p:txBody>
      </p:sp>
      <p:sp>
        <p:nvSpPr>
          <p:cNvPr id="11" name="Text 9"/>
          <p:cNvSpPr/>
          <p:nvPr/>
        </p:nvSpPr>
        <p:spPr>
          <a:xfrm>
            <a:off x="1047750" y="2266950"/>
            <a:ext cx="413108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9D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 automation, global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47750" y="2571750"/>
            <a:ext cx="4131082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4B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· Gartner 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241429" y="1114425"/>
            <a:ext cx="3018086" cy="1847850"/>
          </a:xfrm>
          <a:prstGeom prst="roundRect">
            <a:avLst>
              <a:gd name="adj" fmla="val 9278"/>
            </a:avLst>
          </a:prstGeom>
          <a:solidFill>
            <a:srgbClr val="F5F3FF"/>
          </a:solidFill>
          <a:ln w="9525">
            <a:solidFill>
              <a:srgbClr val="E9E4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98604" y="1524000"/>
            <a:ext cx="2754109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45" kern="0" dirty="0">
                <a:solidFill>
                  <a:srgbClr val="8B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 · SERVICEABLE AVAILABLE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98604" y="1704975"/>
            <a:ext cx="2754109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2143"/>
              </a:lnSpc>
              <a:buNone/>
            </a:pPr>
            <a:r>
              <a:rPr lang="en-US" sz="3450" b="1" spc="-69" kern="0" dirty="0">
                <a:solidFill>
                  <a:srgbClr val="553C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$340M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5498604" y="2162175"/>
            <a:ext cx="275410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Distributed SaaS teams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98604" y="2419350"/>
            <a:ext cx="2754109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2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· CB Insights Q1 2026</a:t>
            </a:r>
            <a:endParaRPr lang="en-US" sz="825" dirty="0"/>
          </a:p>
        </p:txBody>
      </p:sp>
      <p:sp>
        <p:nvSpPr>
          <p:cNvPr id="18" name="Shape 16"/>
          <p:cNvSpPr/>
          <p:nvPr/>
        </p:nvSpPr>
        <p:spPr>
          <a:xfrm>
            <a:off x="8411914" y="1114425"/>
            <a:ext cx="3018086" cy="1847850"/>
          </a:xfrm>
          <a:prstGeom prst="roundRect">
            <a:avLst>
              <a:gd name="adj" fmla="val 9278"/>
            </a:avLst>
          </a:prstGeom>
          <a:solidFill>
            <a:srgbClr val="F8F8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69089" y="1552575"/>
            <a:ext cx="2754109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45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 · OBTAINABLE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69089" y="1733550"/>
            <a:ext cx="275410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1633"/>
              </a:lnSpc>
              <a:buNone/>
            </a:pPr>
            <a:r>
              <a:rPr lang="en-US" sz="3000" b="1" spc="-60" kern="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$34M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669089" y="2133600"/>
            <a:ext cx="275410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Reachable within 3 years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669089" y="2390775"/>
            <a:ext cx="2754109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2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3-year reachable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762000" y="3152775"/>
            <a:ext cx="6352431" cy="1990725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9175" y="3371850"/>
            <a:ext cx="2748052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spc="78" kern="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 BREAKDOWN · % OF SAM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5603528" y="3376613"/>
            <a:ext cx="137910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 entry ↓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19175" y="3676650"/>
            <a:ext cx="1225974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Distributed SaaS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2254674" y="3695700"/>
            <a:ext cx="1445735" cy="171450"/>
          </a:xfrm>
          <a:prstGeom prst="roundRect">
            <a:avLst>
              <a:gd name="adj" fmla="val 33333"/>
            </a:avLst>
          </a:prstGeom>
          <a:solidFill>
            <a:srgbClr val="EDE9FE"/>
          </a:solidFill>
          <a:ln/>
        </p:spPr>
      </p:sp>
      <p:sp>
        <p:nvSpPr>
          <p:cNvPr id="28" name="Text 26"/>
          <p:cNvSpPr/>
          <p:nvPr/>
        </p:nvSpPr>
        <p:spPr>
          <a:xfrm>
            <a:off x="2330874" y="3714750"/>
            <a:ext cx="136953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 · ICP FIT</a:t>
            </a:r>
            <a:endParaRPr lang="en-US" sz="825" dirty="0"/>
          </a:p>
        </p:txBody>
      </p:sp>
      <p:sp>
        <p:nvSpPr>
          <p:cNvPr id="29" name="Text 27"/>
          <p:cNvSpPr/>
          <p:nvPr/>
        </p:nvSpPr>
        <p:spPr>
          <a:xfrm>
            <a:off x="5929461" y="3676650"/>
            <a:ext cx="10039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$210M · 62%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1019175" y="3905250"/>
            <a:ext cx="5838081" cy="104775"/>
          </a:xfrm>
          <a:prstGeom prst="roundRect">
            <a:avLst>
              <a:gd name="adj" fmla="val 50000"/>
            </a:avLst>
          </a:prstGeom>
          <a:solidFill>
            <a:srgbClr val="F1F0F5"/>
          </a:solidFill>
          <a:ln/>
        </p:spPr>
      </p:sp>
      <p:sp>
        <p:nvSpPr>
          <p:cNvPr id="31" name="Shape 29"/>
          <p:cNvSpPr/>
          <p:nvPr/>
        </p:nvSpPr>
        <p:spPr>
          <a:xfrm>
            <a:off x="1019175" y="3905250"/>
            <a:ext cx="3619500" cy="104775"/>
          </a:xfrm>
          <a:prstGeom prst="roundRect">
            <a:avLst>
              <a:gd name="adj" fmla="val 50000"/>
            </a:avLst>
          </a:prstGeom>
          <a:solidFill>
            <a:srgbClr val="6B46C1"/>
          </a:solidFill>
          <a:ln/>
        </p:spPr>
      </p:sp>
      <p:sp>
        <p:nvSpPr>
          <p:cNvPr id="32" name="Text 30"/>
          <p:cNvSpPr/>
          <p:nvPr/>
        </p:nvSpPr>
        <p:spPr>
          <a:xfrm>
            <a:off x="1019175" y="4133850"/>
            <a:ext cx="72300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Agencies</a:t>
            </a:r>
            <a:endParaRPr lang="en-US" sz="1125" dirty="0"/>
          </a:p>
        </p:txBody>
      </p:sp>
      <p:sp>
        <p:nvSpPr>
          <p:cNvPr id="33" name="Text 31"/>
          <p:cNvSpPr/>
          <p:nvPr/>
        </p:nvSpPr>
        <p:spPr>
          <a:xfrm>
            <a:off x="5994797" y="4133850"/>
            <a:ext cx="93865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$82M · 24%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1019175" y="4362450"/>
            <a:ext cx="5838081" cy="104775"/>
          </a:xfrm>
          <a:prstGeom prst="roundRect">
            <a:avLst>
              <a:gd name="adj" fmla="val 50000"/>
            </a:avLst>
          </a:prstGeom>
          <a:solidFill>
            <a:srgbClr val="F1F0F5"/>
          </a:solidFill>
          <a:ln/>
        </p:spPr>
      </p:sp>
      <p:sp>
        <p:nvSpPr>
          <p:cNvPr id="35" name="Shape 33"/>
          <p:cNvSpPr/>
          <p:nvPr/>
        </p:nvSpPr>
        <p:spPr>
          <a:xfrm>
            <a:off x="1019175" y="4362450"/>
            <a:ext cx="1401068" cy="104775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36" name="Text 34"/>
          <p:cNvSpPr/>
          <p:nvPr/>
        </p:nvSpPr>
        <p:spPr>
          <a:xfrm>
            <a:off x="1019175" y="4591050"/>
            <a:ext cx="134832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Remote-first SMB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6013400" y="4591050"/>
            <a:ext cx="92005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$48M · 14%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1019175" y="4819650"/>
            <a:ext cx="5838081" cy="104775"/>
          </a:xfrm>
          <a:prstGeom prst="roundRect">
            <a:avLst>
              <a:gd name="adj" fmla="val 50000"/>
            </a:avLst>
          </a:prstGeom>
          <a:solidFill>
            <a:srgbClr val="F1F0F5"/>
          </a:solidFill>
          <a:ln/>
        </p:spPr>
      </p:sp>
      <p:sp>
        <p:nvSpPr>
          <p:cNvPr id="39" name="Shape 37"/>
          <p:cNvSpPr/>
          <p:nvPr/>
        </p:nvSpPr>
        <p:spPr>
          <a:xfrm>
            <a:off x="1019175" y="4819650"/>
            <a:ext cx="817215" cy="104775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40" name="Shape 38"/>
          <p:cNvSpPr/>
          <p:nvPr/>
        </p:nvSpPr>
        <p:spPr>
          <a:xfrm>
            <a:off x="7304931" y="3152775"/>
            <a:ext cx="4125069" cy="1990725"/>
          </a:xfrm>
          <a:prstGeom prst="roundRect">
            <a:avLst>
              <a:gd name="adj" fmla="val 7656"/>
            </a:avLst>
          </a:prstGeom>
          <a:solidFill>
            <a:srgbClr val="F8F8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43056" y="3371850"/>
            <a:ext cx="401370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spc="78" kern="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CONFIDENCE</a:t>
            </a:r>
            <a:endParaRPr lang="en-US" sz="975" dirty="0"/>
          </a:p>
        </p:txBody>
      </p:sp>
      <p:sp>
        <p:nvSpPr>
          <p:cNvPr id="42" name="Shape 40"/>
          <p:cNvSpPr/>
          <p:nvPr/>
        </p:nvSpPr>
        <p:spPr>
          <a:xfrm>
            <a:off x="7543056" y="3638550"/>
            <a:ext cx="1647527" cy="314325"/>
          </a:xfrm>
          <a:prstGeom prst="roundRect">
            <a:avLst>
              <a:gd name="adj" fmla="val 50000"/>
            </a:avLst>
          </a:prstGeom>
          <a:solidFill>
            <a:srgbClr val="FFFAF0"/>
          </a:solidFill>
          <a:ln w="9525">
            <a:solidFill>
              <a:srgbClr val="FEEBC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76406" y="3705225"/>
            <a:ext cx="145702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Medium · 2 sources</a:t>
            </a:r>
            <a:endParaRPr lang="en-US" sz="1125" dirty="0"/>
          </a:p>
        </p:txBody>
      </p:sp>
      <p:sp>
        <p:nvSpPr>
          <p:cNvPr id="44" name="Text 42"/>
          <p:cNvSpPr/>
          <p:nvPr/>
        </p:nvSpPr>
        <p:spPr>
          <a:xfrm>
            <a:off x="7543056" y="4086225"/>
            <a:ext cx="3758284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875"/>
              </a:lnSpc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Gartner 2025 Workflow Automation Report · CB Insights SaaS Market Sizing, Q1 2026.</a:t>
            </a:r>
            <a:endParaRPr lang="en-US" sz="975" dirty="0"/>
          </a:p>
        </p:txBody>
      </p:sp>
      <p:sp>
        <p:nvSpPr>
          <p:cNvPr id="45" name="Shape 43"/>
          <p:cNvSpPr/>
          <p:nvPr/>
        </p:nvSpPr>
        <p:spPr>
          <a:xfrm>
            <a:off x="7543056" y="4476750"/>
            <a:ext cx="364881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6" name="Text 44"/>
          <p:cNvSpPr/>
          <p:nvPr/>
        </p:nvSpPr>
        <p:spPr>
          <a:xfrm>
            <a:off x="7543056" y="4600575"/>
            <a:ext cx="3758284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938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Pre-populated from your Week 1 problem definition — review and confirm before Week 3.</a:t>
            </a:r>
            <a:endParaRPr lang="en-US" sz="9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11488341" y="6467475"/>
            <a:ext cx="360759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8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62000" y="647700"/>
            <a:ext cx="251361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spc="135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COMPETITIVE LANDSCAPE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482286" y="661988"/>
            <a:ext cx="214248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Pulled from Market Intel · Week 1</a:t>
            </a:r>
            <a:endParaRPr lang="en-US" sz="975" dirty="0"/>
          </a:p>
        </p:txBody>
      </p:sp>
      <p:sp>
        <p:nvSpPr>
          <p:cNvPr id="6" name="Shape 4"/>
          <p:cNvSpPr/>
          <p:nvPr/>
        </p:nvSpPr>
        <p:spPr>
          <a:xfrm>
            <a:off x="762000" y="1076325"/>
            <a:ext cx="6871097" cy="5210175"/>
          </a:xfrm>
          <a:prstGeom prst="roundRect">
            <a:avLst>
              <a:gd name="adj" fmla="val 29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1525" y="1085850"/>
            <a:ext cx="6852047" cy="390525"/>
          </a:xfrm>
          <a:prstGeom prst="rect">
            <a:avLst/>
          </a:prstGeom>
          <a:solidFill>
            <a:srgbClr val="F8F8FA"/>
          </a:solidFill>
          <a:ln/>
        </p:spPr>
      </p:sp>
      <p:sp>
        <p:nvSpPr>
          <p:cNvPr id="8" name="Shape 6"/>
          <p:cNvSpPr/>
          <p:nvPr/>
        </p:nvSpPr>
        <p:spPr>
          <a:xfrm>
            <a:off x="771525" y="1466850"/>
            <a:ext cx="6852047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962025" y="1209675"/>
            <a:ext cx="14795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63" b="1" spc="60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PLAYER</a:t>
            </a:r>
            <a:endParaRPr lang="en-US" sz="863" dirty="0"/>
          </a:p>
        </p:txBody>
      </p:sp>
      <p:sp>
        <p:nvSpPr>
          <p:cNvPr id="10" name="Text 8"/>
          <p:cNvSpPr/>
          <p:nvPr/>
        </p:nvSpPr>
        <p:spPr>
          <a:xfrm>
            <a:off x="2651075" y="1209675"/>
            <a:ext cx="102765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63" b="1" spc="60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</a:t>
            </a:r>
            <a:endParaRPr lang="en-US" sz="863" dirty="0"/>
          </a:p>
        </p:txBody>
      </p:sp>
      <p:sp>
        <p:nvSpPr>
          <p:cNvPr id="11" name="Text 9"/>
          <p:cNvSpPr/>
          <p:nvPr/>
        </p:nvSpPr>
        <p:spPr>
          <a:xfrm>
            <a:off x="3716834" y="1209675"/>
            <a:ext cx="670917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863" b="1" spc="60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</a:t>
            </a:r>
            <a:endParaRPr lang="en-US" sz="863" dirty="0"/>
          </a:p>
        </p:txBody>
      </p:sp>
      <p:sp>
        <p:nvSpPr>
          <p:cNvPr id="12" name="Text 10"/>
          <p:cNvSpPr/>
          <p:nvPr/>
        </p:nvSpPr>
        <p:spPr>
          <a:xfrm>
            <a:off x="4578251" y="1209675"/>
            <a:ext cx="884932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63" b="1" spc="60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STAGE</a:t>
            </a:r>
            <a:endParaRPr lang="en-US" sz="863" dirty="0"/>
          </a:p>
        </p:txBody>
      </p:sp>
      <p:sp>
        <p:nvSpPr>
          <p:cNvPr id="13" name="Text 11"/>
          <p:cNvSpPr/>
          <p:nvPr/>
        </p:nvSpPr>
        <p:spPr>
          <a:xfrm>
            <a:off x="5577483" y="1209675"/>
            <a:ext cx="1931789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63" b="1" spc="60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THEY FALL SHORT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771525" y="1476375"/>
            <a:ext cx="6852047" cy="1200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71525" y="2667000"/>
            <a:ext cx="6852047" cy="9525"/>
          </a:xfrm>
          <a:prstGeom prst="rect">
            <a:avLst/>
          </a:prstGeom>
          <a:solidFill>
            <a:srgbClr val="F1F0F5"/>
          </a:solidFill>
          <a:ln/>
        </p:spPr>
      </p:sp>
      <p:sp>
        <p:nvSpPr>
          <p:cNvPr id="16" name="Shape 14"/>
          <p:cNvSpPr/>
          <p:nvPr/>
        </p:nvSpPr>
        <p:spPr>
          <a:xfrm>
            <a:off x="962025" y="1919288"/>
            <a:ext cx="304800" cy="304800"/>
          </a:xfrm>
          <a:prstGeom prst="roundRect">
            <a:avLst>
              <a:gd name="adj" fmla="val 28125"/>
            </a:avLst>
          </a:prstGeom>
          <a:solidFill>
            <a:srgbClr val="EDE9FE"/>
          </a:solidFill>
          <a:ln/>
        </p:spPr>
      </p:sp>
      <p:sp>
        <p:nvSpPr>
          <p:cNvPr id="17" name="Text 15"/>
          <p:cNvSpPr/>
          <p:nvPr/>
        </p:nvSpPr>
        <p:spPr>
          <a:xfrm>
            <a:off x="1080641" y="2000250"/>
            <a:ext cx="143619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</a:t>
            </a:r>
            <a:endParaRPr lang="en-US" sz="938" dirty="0"/>
          </a:p>
        </p:txBody>
      </p:sp>
      <p:sp>
        <p:nvSpPr>
          <p:cNvPr id="18" name="Text 16"/>
          <p:cNvSpPr/>
          <p:nvPr/>
        </p:nvSpPr>
        <p:spPr>
          <a:xfrm>
            <a:off x="1371600" y="1981200"/>
            <a:ext cx="422374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Loop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2562820" y="1976438"/>
            <a:ext cx="530643" cy="219075"/>
          </a:xfrm>
          <a:prstGeom prst="roundRect">
            <a:avLst>
              <a:gd name="adj" fmla="val 50000"/>
            </a:avLst>
          </a:prstGeom>
          <a:solidFill>
            <a:srgbClr val="FFF5F5"/>
          </a:solidFill>
          <a:ln/>
        </p:spPr>
      </p:sp>
      <p:sp>
        <p:nvSpPr>
          <p:cNvPr id="20" name="Text 18"/>
          <p:cNvSpPr/>
          <p:nvPr/>
        </p:nvSpPr>
        <p:spPr>
          <a:xfrm>
            <a:off x="2658070" y="2014538"/>
            <a:ext cx="41634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530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572024" y="1938337"/>
            <a:ext cx="97110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088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18%</a:t>
            </a:r>
            <a:endParaRPr lang="en-US" sz="1088" dirty="0"/>
          </a:p>
        </p:txBody>
      </p:sp>
      <p:sp>
        <p:nvSpPr>
          <p:cNvPr id="22" name="Shape 20"/>
          <p:cNvSpPr/>
          <p:nvPr/>
        </p:nvSpPr>
        <p:spPr>
          <a:xfrm>
            <a:off x="3648224" y="2147888"/>
            <a:ext cx="894904" cy="57150"/>
          </a:xfrm>
          <a:prstGeom prst="roundRect">
            <a:avLst>
              <a:gd name="adj" fmla="val 50000"/>
            </a:avLst>
          </a:prstGeom>
          <a:solidFill>
            <a:srgbClr val="F1F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3648224" y="2147888"/>
            <a:ext cx="518964" cy="57150"/>
          </a:xfrm>
          <a:prstGeom prst="roundRect">
            <a:avLst>
              <a:gd name="adj" fmla="val 50000"/>
            </a:avLst>
          </a:prstGeom>
          <a:solidFill>
            <a:srgbClr val="C53030"/>
          </a:solidFill>
          <a:ln/>
        </p:spPr>
      </p:sp>
      <p:sp>
        <p:nvSpPr>
          <p:cNvPr id="24" name="Text 22"/>
          <p:cNvSpPr/>
          <p:nvPr/>
        </p:nvSpPr>
        <p:spPr>
          <a:xfrm>
            <a:off x="4733627" y="1995488"/>
            <a:ext cx="83552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Series B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5683448" y="1900238"/>
            <a:ext cx="182582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3"/>
              </a:lnSpc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Thread-level only — no cross-tool context graph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771525" y="2676525"/>
            <a:ext cx="6852047" cy="1200150"/>
          </a:xfrm>
          <a:prstGeom prst="rect">
            <a:avLst/>
          </a:prstGeom>
          <a:solidFill>
            <a:srgbClr val="F8F8FA"/>
          </a:solidFill>
          <a:ln/>
        </p:spPr>
      </p:sp>
      <p:sp>
        <p:nvSpPr>
          <p:cNvPr id="27" name="Shape 25"/>
          <p:cNvSpPr/>
          <p:nvPr/>
        </p:nvSpPr>
        <p:spPr>
          <a:xfrm>
            <a:off x="771525" y="3867150"/>
            <a:ext cx="6852047" cy="9525"/>
          </a:xfrm>
          <a:prstGeom prst="rect">
            <a:avLst/>
          </a:prstGeom>
          <a:solidFill>
            <a:srgbClr val="F1F0F5"/>
          </a:solidFill>
          <a:ln/>
        </p:spPr>
      </p:sp>
      <p:sp>
        <p:nvSpPr>
          <p:cNvPr id="28" name="Shape 26"/>
          <p:cNvSpPr/>
          <p:nvPr/>
        </p:nvSpPr>
        <p:spPr>
          <a:xfrm>
            <a:off x="962025" y="3119438"/>
            <a:ext cx="304800" cy="304800"/>
          </a:xfrm>
          <a:prstGeom prst="roundRect">
            <a:avLst>
              <a:gd name="adj" fmla="val 28125"/>
            </a:avLst>
          </a:prstGeom>
          <a:solidFill>
            <a:srgbClr val="DBEAFE"/>
          </a:solidFill>
          <a:ln/>
        </p:spPr>
      </p:sp>
      <p:sp>
        <p:nvSpPr>
          <p:cNvPr id="29" name="Text 27"/>
          <p:cNvSpPr/>
          <p:nvPr/>
        </p:nvSpPr>
        <p:spPr>
          <a:xfrm>
            <a:off x="1022896" y="3200400"/>
            <a:ext cx="25911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</a:t>
            </a:r>
            <a:endParaRPr lang="en-US" sz="938" dirty="0"/>
          </a:p>
        </p:txBody>
      </p:sp>
      <p:sp>
        <p:nvSpPr>
          <p:cNvPr id="30" name="Text 28"/>
          <p:cNvSpPr/>
          <p:nvPr/>
        </p:nvSpPr>
        <p:spPr>
          <a:xfrm>
            <a:off x="1371600" y="3181350"/>
            <a:ext cx="72107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Notion AI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2562820" y="3176588"/>
            <a:ext cx="626209" cy="219075"/>
          </a:xfrm>
          <a:prstGeom prst="roundRect">
            <a:avLst>
              <a:gd name="adj" fmla="val 50000"/>
            </a:avLst>
          </a:prstGeom>
          <a:solidFill>
            <a:srgbClr val="FFFAF0"/>
          </a:solidFill>
          <a:ln/>
        </p:spPr>
      </p:sp>
      <p:sp>
        <p:nvSpPr>
          <p:cNvPr id="32" name="Text 30"/>
          <p:cNvSpPr/>
          <p:nvPr/>
        </p:nvSpPr>
        <p:spPr>
          <a:xfrm>
            <a:off x="2658070" y="3214688"/>
            <a:ext cx="511909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Indirect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572024" y="3138488"/>
            <a:ext cx="97110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088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26%</a:t>
            </a:r>
            <a:endParaRPr lang="en-US" sz="1088" dirty="0"/>
          </a:p>
        </p:txBody>
      </p:sp>
      <p:sp>
        <p:nvSpPr>
          <p:cNvPr id="34" name="Shape 32"/>
          <p:cNvSpPr/>
          <p:nvPr/>
        </p:nvSpPr>
        <p:spPr>
          <a:xfrm>
            <a:off x="3648224" y="3348038"/>
            <a:ext cx="894904" cy="57150"/>
          </a:xfrm>
          <a:prstGeom prst="roundRect">
            <a:avLst>
              <a:gd name="adj" fmla="val 50000"/>
            </a:avLst>
          </a:prstGeom>
          <a:solidFill>
            <a:srgbClr val="F1F0F5"/>
          </a:solidFill>
          <a:ln/>
        </p:spPr>
      </p:sp>
      <p:sp>
        <p:nvSpPr>
          <p:cNvPr id="35" name="Shape 33"/>
          <p:cNvSpPr/>
          <p:nvPr/>
        </p:nvSpPr>
        <p:spPr>
          <a:xfrm>
            <a:off x="3648224" y="3348038"/>
            <a:ext cx="751582" cy="571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6" name="Text 34"/>
          <p:cNvSpPr/>
          <p:nvPr/>
        </p:nvSpPr>
        <p:spPr>
          <a:xfrm>
            <a:off x="4733627" y="3195638"/>
            <a:ext cx="83552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Series C</a:t>
            </a:r>
            <a:endParaRPr lang="en-US" sz="975" dirty="0"/>
          </a:p>
        </p:txBody>
      </p:sp>
      <p:sp>
        <p:nvSpPr>
          <p:cNvPr id="37" name="Text 35"/>
          <p:cNvSpPr/>
          <p:nvPr/>
        </p:nvSpPr>
        <p:spPr>
          <a:xfrm>
            <a:off x="5683448" y="3100388"/>
            <a:ext cx="182582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3"/>
              </a:lnSpc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Docs-first; async decisions live outside the workspace</a:t>
            </a:r>
            <a:endParaRPr lang="en-US" sz="975" dirty="0"/>
          </a:p>
        </p:txBody>
      </p:sp>
      <p:sp>
        <p:nvSpPr>
          <p:cNvPr id="38" name="Shape 36"/>
          <p:cNvSpPr/>
          <p:nvPr/>
        </p:nvSpPr>
        <p:spPr>
          <a:xfrm>
            <a:off x="771525" y="3876675"/>
            <a:ext cx="6852047" cy="1200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771525" y="5067300"/>
            <a:ext cx="6852047" cy="9525"/>
          </a:xfrm>
          <a:prstGeom prst="rect">
            <a:avLst/>
          </a:prstGeom>
          <a:solidFill>
            <a:srgbClr val="F1F0F5"/>
          </a:solidFill>
          <a:ln/>
        </p:spPr>
      </p:sp>
      <p:sp>
        <p:nvSpPr>
          <p:cNvPr id="40" name="Shape 38"/>
          <p:cNvSpPr/>
          <p:nvPr/>
        </p:nvSpPr>
        <p:spPr>
          <a:xfrm>
            <a:off x="962025" y="4319588"/>
            <a:ext cx="304800" cy="304800"/>
          </a:xfrm>
          <a:prstGeom prst="roundRect">
            <a:avLst>
              <a:gd name="adj" fmla="val 28125"/>
            </a:avLst>
          </a:prstGeom>
          <a:solidFill>
            <a:srgbClr val="FEF3C7"/>
          </a:solidFill>
          <a:ln/>
        </p:spPr>
      </p:sp>
      <p:sp>
        <p:nvSpPr>
          <p:cNvPr id="41" name="Text 39"/>
          <p:cNvSpPr/>
          <p:nvPr/>
        </p:nvSpPr>
        <p:spPr>
          <a:xfrm>
            <a:off x="1030486" y="4400550"/>
            <a:ext cx="243929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B453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</a:t>
            </a:r>
            <a:endParaRPr lang="en-US" sz="938" dirty="0"/>
          </a:p>
        </p:txBody>
      </p:sp>
      <p:sp>
        <p:nvSpPr>
          <p:cNvPr id="42" name="Text 40"/>
          <p:cNvSpPr/>
          <p:nvPr/>
        </p:nvSpPr>
        <p:spPr>
          <a:xfrm>
            <a:off x="1371600" y="4291013"/>
            <a:ext cx="98167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Slack Huddles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2562820" y="4376738"/>
            <a:ext cx="700265" cy="219075"/>
          </a:xfrm>
          <a:prstGeom prst="roundRect">
            <a:avLst>
              <a:gd name="adj" fmla="val 50000"/>
            </a:avLst>
          </a:prstGeom>
          <a:solidFill>
            <a:srgbClr val="F8F8FA"/>
          </a:solidFill>
          <a:ln/>
        </p:spPr>
      </p:sp>
      <p:sp>
        <p:nvSpPr>
          <p:cNvPr id="44" name="Text 42"/>
          <p:cNvSpPr/>
          <p:nvPr/>
        </p:nvSpPr>
        <p:spPr>
          <a:xfrm>
            <a:off x="2658070" y="4414838"/>
            <a:ext cx="58596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Adjacent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572024" y="4338638"/>
            <a:ext cx="97110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088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31%</a:t>
            </a:r>
            <a:endParaRPr lang="en-US" sz="1088" dirty="0"/>
          </a:p>
        </p:txBody>
      </p:sp>
      <p:sp>
        <p:nvSpPr>
          <p:cNvPr id="46" name="Shape 44"/>
          <p:cNvSpPr/>
          <p:nvPr/>
        </p:nvSpPr>
        <p:spPr>
          <a:xfrm>
            <a:off x="3648224" y="4548188"/>
            <a:ext cx="894904" cy="57150"/>
          </a:xfrm>
          <a:prstGeom prst="roundRect">
            <a:avLst>
              <a:gd name="adj" fmla="val 50000"/>
            </a:avLst>
          </a:prstGeom>
          <a:solidFill>
            <a:srgbClr val="F1F0F5"/>
          </a:solidFill>
          <a:ln/>
        </p:spPr>
      </p:sp>
      <p:sp>
        <p:nvSpPr>
          <p:cNvPr id="47" name="Shape 45"/>
          <p:cNvSpPr/>
          <p:nvPr/>
        </p:nvSpPr>
        <p:spPr>
          <a:xfrm>
            <a:off x="3648224" y="4548188"/>
            <a:ext cx="894904" cy="57150"/>
          </a:xfrm>
          <a:prstGeom prst="roundRect">
            <a:avLst>
              <a:gd name="adj" fmla="val 50000"/>
            </a:avLst>
          </a:prstGeom>
          <a:solidFill>
            <a:srgbClr val="CBD5E0"/>
          </a:solidFill>
          <a:ln/>
        </p:spPr>
      </p:sp>
      <p:sp>
        <p:nvSpPr>
          <p:cNvPr id="48" name="Text 46"/>
          <p:cNvSpPr/>
          <p:nvPr/>
        </p:nvSpPr>
        <p:spPr>
          <a:xfrm>
            <a:off x="4733627" y="4395787"/>
            <a:ext cx="83552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Incumbent</a:t>
            </a:r>
            <a:endParaRPr lang="en-US" sz="975" dirty="0"/>
          </a:p>
        </p:txBody>
      </p:sp>
      <p:sp>
        <p:nvSpPr>
          <p:cNvPr id="49" name="Text 47"/>
          <p:cNvSpPr/>
          <p:nvPr/>
        </p:nvSpPr>
        <p:spPr>
          <a:xfrm>
            <a:off x="5683448" y="4300538"/>
            <a:ext cx="182582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3"/>
              </a:lnSpc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Synchronous by design; no persistent decision record</a:t>
            </a:r>
            <a:endParaRPr lang="en-US" sz="975" dirty="0"/>
          </a:p>
        </p:txBody>
      </p:sp>
      <p:sp>
        <p:nvSpPr>
          <p:cNvPr id="50" name="Shape 48"/>
          <p:cNvSpPr/>
          <p:nvPr/>
        </p:nvSpPr>
        <p:spPr>
          <a:xfrm>
            <a:off x="771525" y="5076825"/>
            <a:ext cx="6852047" cy="1200150"/>
          </a:xfrm>
          <a:prstGeom prst="rect">
            <a:avLst/>
          </a:prstGeom>
          <a:solidFill>
            <a:srgbClr val="F8F8FA"/>
          </a:solidFill>
          <a:ln/>
        </p:spPr>
      </p:sp>
      <p:sp>
        <p:nvSpPr>
          <p:cNvPr id="51" name="Shape 49"/>
          <p:cNvSpPr/>
          <p:nvPr/>
        </p:nvSpPr>
        <p:spPr>
          <a:xfrm>
            <a:off x="771525" y="6267450"/>
            <a:ext cx="6852047" cy="9525"/>
          </a:xfrm>
          <a:prstGeom prst="rect">
            <a:avLst/>
          </a:prstGeom>
          <a:solidFill>
            <a:srgbClr val="F1F0F5"/>
          </a:solidFill>
          <a:ln/>
        </p:spPr>
      </p:sp>
      <p:sp>
        <p:nvSpPr>
          <p:cNvPr id="52" name="Shape 50"/>
          <p:cNvSpPr/>
          <p:nvPr/>
        </p:nvSpPr>
        <p:spPr>
          <a:xfrm>
            <a:off x="962025" y="5519738"/>
            <a:ext cx="304800" cy="304800"/>
          </a:xfrm>
          <a:prstGeom prst="roundRect">
            <a:avLst>
              <a:gd name="adj" fmla="val 28125"/>
            </a:avLst>
          </a:prstGeom>
          <a:solidFill>
            <a:srgbClr val="FEE2E2"/>
          </a:solidFill>
          <a:ln/>
        </p:spPr>
      </p:sp>
      <p:sp>
        <p:nvSpPr>
          <p:cNvPr id="53" name="Text 51"/>
          <p:cNvSpPr/>
          <p:nvPr/>
        </p:nvSpPr>
        <p:spPr>
          <a:xfrm>
            <a:off x="1074986" y="5600700"/>
            <a:ext cx="155079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C530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</a:t>
            </a:r>
            <a:endParaRPr lang="en-US" sz="938" dirty="0"/>
          </a:p>
        </p:txBody>
      </p:sp>
      <p:sp>
        <p:nvSpPr>
          <p:cNvPr id="54" name="Text 52"/>
          <p:cNvSpPr/>
          <p:nvPr/>
        </p:nvSpPr>
        <p:spPr>
          <a:xfrm>
            <a:off x="1371600" y="5581650"/>
            <a:ext cx="516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Range</a:t>
            </a:r>
            <a:endParaRPr lang="en-US" sz="1125" dirty="0"/>
          </a:p>
        </p:txBody>
      </p:sp>
      <p:sp>
        <p:nvSpPr>
          <p:cNvPr id="55" name="Shape 53"/>
          <p:cNvSpPr/>
          <p:nvPr/>
        </p:nvSpPr>
        <p:spPr>
          <a:xfrm>
            <a:off x="2562820" y="5576888"/>
            <a:ext cx="530643" cy="219075"/>
          </a:xfrm>
          <a:prstGeom prst="roundRect">
            <a:avLst>
              <a:gd name="adj" fmla="val 50000"/>
            </a:avLst>
          </a:prstGeom>
          <a:solidFill>
            <a:srgbClr val="FFF5F5"/>
          </a:solidFill>
          <a:ln/>
        </p:spPr>
      </p:sp>
      <p:sp>
        <p:nvSpPr>
          <p:cNvPr id="56" name="Text 54"/>
          <p:cNvSpPr/>
          <p:nvPr/>
        </p:nvSpPr>
        <p:spPr>
          <a:xfrm>
            <a:off x="2658070" y="5614988"/>
            <a:ext cx="41634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5303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572024" y="5538788"/>
            <a:ext cx="97110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088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7%</a:t>
            </a:r>
            <a:endParaRPr lang="en-US" sz="1088" dirty="0"/>
          </a:p>
        </p:txBody>
      </p:sp>
      <p:sp>
        <p:nvSpPr>
          <p:cNvPr id="58" name="Shape 56"/>
          <p:cNvSpPr/>
          <p:nvPr/>
        </p:nvSpPr>
        <p:spPr>
          <a:xfrm>
            <a:off x="3648224" y="5748338"/>
            <a:ext cx="894904" cy="57150"/>
          </a:xfrm>
          <a:prstGeom prst="roundRect">
            <a:avLst>
              <a:gd name="adj" fmla="val 50000"/>
            </a:avLst>
          </a:prstGeom>
          <a:solidFill>
            <a:srgbClr val="F1F0F5"/>
          </a:solidFill>
          <a:ln/>
        </p:spPr>
      </p:sp>
      <p:sp>
        <p:nvSpPr>
          <p:cNvPr id="59" name="Shape 57"/>
          <p:cNvSpPr/>
          <p:nvPr/>
        </p:nvSpPr>
        <p:spPr>
          <a:xfrm>
            <a:off x="3648224" y="5748338"/>
            <a:ext cx="205680" cy="57150"/>
          </a:xfrm>
          <a:prstGeom prst="roundRect">
            <a:avLst>
              <a:gd name="adj" fmla="val 50000"/>
            </a:avLst>
          </a:prstGeom>
          <a:solidFill>
            <a:srgbClr val="C53030"/>
          </a:solidFill>
          <a:ln/>
        </p:spPr>
      </p:sp>
      <p:sp>
        <p:nvSpPr>
          <p:cNvPr id="60" name="Text 58"/>
          <p:cNvSpPr/>
          <p:nvPr/>
        </p:nvSpPr>
        <p:spPr>
          <a:xfrm>
            <a:off x="4733627" y="5595937"/>
            <a:ext cx="83552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Seed</a:t>
            </a:r>
            <a:endParaRPr lang="en-US" sz="975" dirty="0"/>
          </a:p>
        </p:txBody>
      </p:sp>
      <p:sp>
        <p:nvSpPr>
          <p:cNvPr id="61" name="Text 59"/>
          <p:cNvSpPr/>
          <p:nvPr/>
        </p:nvSpPr>
        <p:spPr>
          <a:xfrm>
            <a:off x="5683448" y="5500688"/>
            <a:ext cx="182582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3"/>
              </a:lnSpc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Standup-focused; no AI context surfacing</a:t>
            </a:r>
            <a:endParaRPr lang="en-US" sz="975" dirty="0"/>
          </a:p>
        </p:txBody>
      </p:sp>
      <p:sp>
        <p:nvSpPr>
          <p:cNvPr id="62" name="Shape 60"/>
          <p:cNvSpPr/>
          <p:nvPr/>
        </p:nvSpPr>
        <p:spPr>
          <a:xfrm>
            <a:off x="7823597" y="1076325"/>
            <a:ext cx="3606403" cy="3990975"/>
          </a:xfrm>
          <a:prstGeom prst="roundRect">
            <a:avLst>
              <a:gd name="adj" fmla="val 4226"/>
            </a:avLst>
          </a:prstGeom>
          <a:gradFill rotWithShape="1">
            <a:gsLst>
              <a:gs pos="0">
                <a:srgbClr val="6B46C1">
                  <a:alpha val="100000"/>
                </a:srgbClr>
              </a:gs>
              <a:gs pos="100000">
                <a:srgbClr val="553C9A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63" name="Text 61"/>
          <p:cNvSpPr/>
          <p:nvPr/>
        </p:nvSpPr>
        <p:spPr>
          <a:xfrm>
            <a:off x="8052197" y="1285875"/>
            <a:ext cx="346412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63" b="1" spc="60" kern="0" dirty="0">
                <a:solidFill>
                  <a:srgbClr val="E9D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WEDGE</a:t>
            </a:r>
            <a:endParaRPr lang="en-US" sz="863" dirty="0"/>
          </a:p>
        </p:txBody>
      </p:sp>
      <p:sp>
        <p:nvSpPr>
          <p:cNvPr id="64" name="Text 62"/>
          <p:cNvSpPr/>
          <p:nvPr/>
        </p:nvSpPr>
        <p:spPr>
          <a:xfrm>
            <a:off x="8052197" y="1514475"/>
            <a:ext cx="324367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91"/>
              </a:lnSpc>
              <a:buNone/>
            </a:pPr>
            <a:r>
              <a:rPr lang="en-US" sz="1425" b="1" spc="-14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Cross-team workflow graph competitors can’t replicate</a:t>
            </a:r>
            <a:endParaRPr lang="en-US" sz="1425" dirty="0"/>
          </a:p>
        </p:txBody>
      </p:sp>
      <p:pic>
        <p:nvPicPr>
          <p:cNvPr id="6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52197" y="3800475"/>
            <a:ext cx="152400" cy="152400"/>
          </a:xfrm>
          <a:prstGeom prst="rect">
            <a:avLst/>
          </a:prstGeom>
        </p:spPr>
      </p:pic>
      <p:sp>
        <p:nvSpPr>
          <p:cNvPr id="66" name="Text 63"/>
          <p:cNvSpPr/>
          <p:nvPr/>
        </p:nvSpPr>
        <p:spPr>
          <a:xfrm>
            <a:off x="8290322" y="3781425"/>
            <a:ext cx="299841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344"/>
              </a:lnSpc>
              <a:buNone/>
            </a:pPr>
            <a:r>
              <a:rPr lang="en-US" sz="1013" dirty="0">
                <a:solidFill>
                  <a:srgbClr val="E9D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Cross-tool workflow graph, not another destination app</a:t>
            </a:r>
            <a:endParaRPr lang="en-US" sz="1013" dirty="0"/>
          </a:p>
        </p:txBody>
      </p:sp>
      <p:pic>
        <p:nvPicPr>
          <p:cNvPr id="6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52197" y="4248150"/>
            <a:ext cx="152400" cy="152400"/>
          </a:xfrm>
          <a:prstGeom prst="rect">
            <a:avLst/>
          </a:prstGeom>
        </p:spPr>
      </p:pic>
      <p:sp>
        <p:nvSpPr>
          <p:cNvPr id="68" name="Text 64"/>
          <p:cNvSpPr/>
          <p:nvPr/>
        </p:nvSpPr>
        <p:spPr>
          <a:xfrm>
            <a:off x="8290322" y="4229100"/>
            <a:ext cx="303241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344"/>
              </a:lnSpc>
              <a:buNone/>
            </a:pPr>
            <a:r>
              <a:rPr lang="en-US" sz="1013" dirty="0">
                <a:solidFill>
                  <a:srgbClr val="E9D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surfaces context at the moment of handoff</a:t>
            </a:r>
            <a:endParaRPr lang="en-US" sz="1013" dirty="0"/>
          </a:p>
        </p:txBody>
      </p:sp>
      <p:pic>
        <p:nvPicPr>
          <p:cNvPr id="6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52197" y="4514850"/>
            <a:ext cx="152400" cy="152400"/>
          </a:xfrm>
          <a:prstGeom prst="rect">
            <a:avLst/>
          </a:prstGeom>
        </p:spPr>
      </p:pic>
      <p:sp>
        <p:nvSpPr>
          <p:cNvPr id="70" name="Text 65"/>
          <p:cNvSpPr/>
          <p:nvPr/>
        </p:nvSpPr>
        <p:spPr>
          <a:xfrm>
            <a:off x="8290322" y="4495800"/>
            <a:ext cx="299841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344"/>
              </a:lnSpc>
              <a:buNone/>
            </a:pPr>
            <a:r>
              <a:rPr lang="en-US" sz="1013" dirty="0">
                <a:solidFill>
                  <a:srgbClr val="E9D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Slack-native — adoption without workflow change</a:t>
            </a:r>
            <a:endParaRPr lang="en-US" sz="1013" dirty="0"/>
          </a:p>
        </p:txBody>
      </p:sp>
      <p:sp>
        <p:nvSpPr>
          <p:cNvPr id="71" name="Shape 66"/>
          <p:cNvSpPr/>
          <p:nvPr/>
        </p:nvSpPr>
        <p:spPr>
          <a:xfrm>
            <a:off x="7823597" y="5200650"/>
            <a:ext cx="3606403" cy="1085850"/>
          </a:xfrm>
          <a:prstGeom prst="roundRect">
            <a:avLst>
              <a:gd name="adj" fmla="val 14035"/>
            </a:avLst>
          </a:prstGeom>
          <a:solidFill>
            <a:srgbClr val="F8F8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2" name="Text 67"/>
          <p:cNvSpPr/>
          <p:nvPr/>
        </p:nvSpPr>
        <p:spPr>
          <a:xfrm>
            <a:off x="8023622" y="5362575"/>
            <a:ext cx="352698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63" b="1" spc="52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WHITESPACE</a:t>
            </a:r>
            <a:endParaRPr lang="en-US" sz="863" dirty="0"/>
          </a:p>
        </p:txBody>
      </p:sp>
      <p:sp>
        <p:nvSpPr>
          <p:cNvPr id="73" name="Text 68"/>
          <p:cNvSpPr/>
          <p:nvPr/>
        </p:nvSpPr>
        <p:spPr>
          <a:xfrm>
            <a:off x="8023622" y="5553075"/>
            <a:ext cx="3302544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63"/>
              </a:lnSpc>
              <a:buNone/>
            </a:pPr>
            <a:r>
              <a:rPr lang="en-US" sz="1013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incumbent owns the async handoff between tools — the seam where distributed teams actually lose hours.</a:t>
            </a:r>
            <a:endParaRPr lang="en-US" sz="101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11495633" y="6467475"/>
            <a:ext cx="35346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8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62000" y="647700"/>
            <a:ext cx="97169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spc="135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TRACTION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647783" y="661988"/>
            <a:ext cx="1960438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Pulled from Revenue · Week 3</a:t>
            </a:r>
            <a:endParaRPr lang="en-US" sz="975" dirty="0"/>
          </a:p>
        </p:txBody>
      </p:sp>
      <p:sp>
        <p:nvSpPr>
          <p:cNvPr id="6" name="Shape 4"/>
          <p:cNvSpPr/>
          <p:nvPr/>
        </p:nvSpPr>
        <p:spPr>
          <a:xfrm>
            <a:off x="762000" y="1076325"/>
            <a:ext cx="2552700" cy="1181100"/>
          </a:xfrm>
          <a:prstGeom prst="roundRect">
            <a:avLst>
              <a:gd name="adj" fmla="val 12903"/>
            </a:avLst>
          </a:prstGeom>
          <a:solidFill>
            <a:srgbClr val="F5F3FF"/>
          </a:solidFill>
          <a:ln w="9525">
            <a:solidFill>
              <a:srgbClr val="E9E4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0125" y="1276350"/>
            <a:ext cx="228409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45" kern="0" dirty="0">
                <a:solidFill>
                  <a:srgbClr val="8B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MRR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00125" y="1476375"/>
            <a:ext cx="228409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714"/>
              </a:lnSpc>
              <a:buNone/>
            </a:pPr>
            <a:r>
              <a:rPr lang="en-US" sz="3000" b="1" spc="-90" kern="0" dirty="0">
                <a:solidFill>
                  <a:srgbClr val="553C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$1.8k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000125" y="1905000"/>
            <a:ext cx="228409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Verified, recurring</a:t>
            </a:r>
            <a:endParaRPr lang="en-US" sz="975" dirty="0"/>
          </a:p>
        </p:txBody>
      </p:sp>
      <p:sp>
        <p:nvSpPr>
          <p:cNvPr id="10" name="Shape 8"/>
          <p:cNvSpPr/>
          <p:nvPr/>
        </p:nvSpPr>
        <p:spPr>
          <a:xfrm>
            <a:off x="3467100" y="1076325"/>
            <a:ext cx="2552700" cy="118110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5225" y="1276350"/>
            <a:ext cx="228409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45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PAYING CUSTOMERS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705225" y="1476375"/>
            <a:ext cx="228409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714"/>
              </a:lnSpc>
              <a:buNone/>
            </a:pPr>
            <a:r>
              <a:rPr lang="en-US" sz="3000" b="1" spc="-90" kern="0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705225" y="1905000"/>
            <a:ext cx="228409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Converted from discovery</a:t>
            </a:r>
            <a:endParaRPr lang="en-US" sz="975" dirty="0"/>
          </a:p>
        </p:txBody>
      </p:sp>
      <p:sp>
        <p:nvSpPr>
          <p:cNvPr id="14" name="Shape 12"/>
          <p:cNvSpPr/>
          <p:nvPr/>
        </p:nvSpPr>
        <p:spPr>
          <a:xfrm>
            <a:off x="6172200" y="1076325"/>
            <a:ext cx="2552700" cy="118110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0325" y="1276350"/>
            <a:ext cx="228409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45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AVG. CONTRACT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10325" y="1476375"/>
            <a:ext cx="228409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714"/>
              </a:lnSpc>
              <a:buNone/>
            </a:pPr>
            <a:r>
              <a:rPr lang="en-US" sz="3000" b="1" spc="-90" kern="0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$600/mo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410325" y="1905000"/>
            <a:ext cx="228409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month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8877300" y="1076325"/>
            <a:ext cx="2552700" cy="1181100"/>
          </a:xfrm>
          <a:prstGeom prst="roundRect">
            <a:avLst>
              <a:gd name="adj" fmla="val 12903"/>
            </a:avLst>
          </a:prstGeom>
          <a:solidFill>
            <a:srgbClr val="F0FBF4"/>
          </a:solidFill>
          <a:ln w="9525">
            <a:solidFill>
              <a:srgbClr val="C6F6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15425" y="1276350"/>
            <a:ext cx="228409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45" kern="0" dirty="0">
                <a:solidFill>
                  <a:srgbClr val="38A1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 GROWTH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115425" y="1476375"/>
            <a:ext cx="228409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714"/>
              </a:lnSpc>
              <a:buNone/>
            </a:pPr>
            <a:r>
              <a:rPr lang="en-US" sz="3000" b="1" spc="-90" kern="0" dirty="0">
                <a:solidFill>
                  <a:srgbClr val="2F85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+64%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115425" y="1905000"/>
            <a:ext cx="228409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3-month average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762000" y="2466975"/>
            <a:ext cx="6717804" cy="3819525"/>
          </a:xfrm>
          <a:prstGeom prst="roundRect">
            <a:avLst>
              <a:gd name="adj" fmla="val 39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9175" y="2686050"/>
            <a:ext cx="2476292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spc="78" kern="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RECURRING REVENUE</a:t>
            </a:r>
            <a:endParaRPr lang="en-US" sz="975" dirty="0"/>
          </a:p>
        </p:txBody>
      </p:sp>
      <p:sp>
        <p:nvSpPr>
          <p:cNvPr id="24" name="Text 22"/>
          <p:cNvSpPr/>
          <p:nvPr/>
        </p:nvSpPr>
        <p:spPr>
          <a:xfrm>
            <a:off x="5708005" y="2690813"/>
            <a:ext cx="1666086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 · logged in Revenue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557338" y="5114925"/>
            <a:ext cx="43636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$300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19175" y="5353050"/>
            <a:ext cx="1436638" cy="457200"/>
          </a:xfrm>
          <a:custGeom>
            <a:avLst/>
            <a:gdLst/>
            <a:ahLst/>
            <a:cxnLst/>
            <a:rect l="l" t="t" r="r" b="b"/>
            <a:pathLst>
              <a:path w="1436638" h="457200">
                <a:moveTo>
                  <a:pt x="95250" y="0"/>
                </a:moveTo>
                <a:lnTo>
                  <a:pt x="1341388" y="0"/>
                </a:lnTo>
                <a:arcTo hR="95250" wR="95250" stAng="16200000" swAng="5400000"/>
                <a:lnTo>
                  <a:pt x="1436638" y="419100"/>
                </a:lnTo>
                <a:arcTo hR="38100" wR="38100" stAng="0" swAng="5400000"/>
                <a:lnTo>
                  <a:pt x="38100" y="457200"/>
                </a:lnTo>
                <a:arcTo hR="38100" wR="38100" stAng="5400000" swAng="5400000"/>
                <a:lnTo>
                  <a:pt x="0" y="95250"/>
                </a:lnTo>
                <a:arcTo hR="95250" wR="95250" stAng="10800000" swAng="5400000"/>
                <a:close/>
              </a:path>
            </a:pathLst>
          </a:custGeom>
          <a:solidFill>
            <a:srgbClr val="C4B5FD"/>
          </a:solidFill>
          <a:ln/>
        </p:spPr>
      </p:sp>
      <p:sp>
        <p:nvSpPr>
          <p:cNvPr id="27" name="Text 25"/>
          <p:cNvSpPr/>
          <p:nvPr/>
        </p:nvSpPr>
        <p:spPr>
          <a:xfrm>
            <a:off x="1633240" y="5886450"/>
            <a:ext cx="284559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</a:t>
            </a:r>
            <a:endParaRPr lang="en-US" sz="938" dirty="0"/>
          </a:p>
        </p:txBody>
      </p:sp>
      <p:sp>
        <p:nvSpPr>
          <p:cNvPr id="28" name="Text 26"/>
          <p:cNvSpPr/>
          <p:nvPr/>
        </p:nvSpPr>
        <p:spPr>
          <a:xfrm>
            <a:off x="3152031" y="4762500"/>
            <a:ext cx="42505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608213" y="5000625"/>
            <a:ext cx="1436638" cy="809625"/>
          </a:xfrm>
          <a:custGeom>
            <a:avLst/>
            <a:gdLst/>
            <a:ahLst/>
            <a:cxnLst/>
            <a:rect l="l" t="t" r="r" b="b"/>
            <a:pathLst>
              <a:path w="1436638" h="809625">
                <a:moveTo>
                  <a:pt x="95250" y="0"/>
                </a:moveTo>
                <a:lnTo>
                  <a:pt x="1341388" y="0"/>
                </a:lnTo>
                <a:arcTo hR="95250" wR="95250" stAng="16200000" swAng="5400000"/>
                <a:lnTo>
                  <a:pt x="1436638" y="771525"/>
                </a:lnTo>
                <a:arcTo hR="38100" wR="38100" stAng="0" swAng="5400000"/>
                <a:lnTo>
                  <a:pt x="38100" y="809625"/>
                </a:lnTo>
                <a:arcTo hR="38100" wR="38100" stAng="5400000" swAng="5400000"/>
                <a:lnTo>
                  <a:pt x="0" y="95250"/>
                </a:lnTo>
                <a:arcTo hR="95250" wR="95250" stAng="10800000" swAng="5400000"/>
                <a:close/>
              </a:path>
            </a:pathLst>
          </a:custGeom>
          <a:solidFill>
            <a:srgbClr val="C4B5FD"/>
          </a:solidFill>
          <a:ln/>
        </p:spPr>
      </p:sp>
      <p:sp>
        <p:nvSpPr>
          <p:cNvPr id="30" name="Text 28"/>
          <p:cNvSpPr/>
          <p:nvPr/>
        </p:nvSpPr>
        <p:spPr>
          <a:xfrm>
            <a:off x="3203377" y="5886450"/>
            <a:ext cx="32251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938" dirty="0"/>
          </a:p>
        </p:txBody>
      </p:sp>
      <p:sp>
        <p:nvSpPr>
          <p:cNvPr id="31" name="Text 29"/>
          <p:cNvSpPr/>
          <p:nvPr/>
        </p:nvSpPr>
        <p:spPr>
          <a:xfrm>
            <a:off x="4755803" y="4400550"/>
            <a:ext cx="39573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$1.1k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197251" y="4638675"/>
            <a:ext cx="1436638" cy="1171575"/>
          </a:xfrm>
          <a:custGeom>
            <a:avLst/>
            <a:gdLst/>
            <a:ahLst/>
            <a:cxnLst/>
            <a:rect l="l" t="t" r="r" b="b"/>
            <a:pathLst>
              <a:path w="1436638" h="1171575">
                <a:moveTo>
                  <a:pt x="95250" y="0"/>
                </a:moveTo>
                <a:lnTo>
                  <a:pt x="1341388" y="0"/>
                </a:lnTo>
                <a:arcTo hR="95250" wR="95250" stAng="16200000" swAng="5400000"/>
                <a:lnTo>
                  <a:pt x="1436638" y="1133475"/>
                </a:lnTo>
                <a:arcTo hR="38100" wR="38100" stAng="0" swAng="5400000"/>
                <a:lnTo>
                  <a:pt x="38100" y="1171575"/>
                </a:lnTo>
                <a:arcTo hR="38100" wR="38100" stAng="5400000" swAng="5400000"/>
                <a:lnTo>
                  <a:pt x="0" y="95250"/>
                </a:lnTo>
                <a:arcTo hR="95250" wR="95250" stAng="10800000" swAng="5400000"/>
                <a:close/>
              </a:path>
            </a:pathLst>
          </a:custGeom>
          <a:solidFill>
            <a:srgbClr val="8B5CF6"/>
          </a:solidFill>
          <a:ln/>
        </p:spPr>
      </p:sp>
      <p:sp>
        <p:nvSpPr>
          <p:cNvPr id="33" name="Text 31"/>
          <p:cNvSpPr/>
          <p:nvPr/>
        </p:nvSpPr>
        <p:spPr>
          <a:xfrm>
            <a:off x="4808041" y="5886450"/>
            <a:ext cx="291108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</a:t>
            </a:r>
            <a:endParaRPr lang="en-US" sz="938" dirty="0"/>
          </a:p>
        </p:txBody>
      </p:sp>
      <p:sp>
        <p:nvSpPr>
          <p:cNvPr id="34" name="Text 32"/>
          <p:cNvSpPr/>
          <p:nvPr/>
        </p:nvSpPr>
        <p:spPr>
          <a:xfrm>
            <a:off x="6325791" y="3781425"/>
            <a:ext cx="43368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53C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$1.8k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786289" y="4019550"/>
            <a:ext cx="1436638" cy="1790700"/>
          </a:xfrm>
          <a:custGeom>
            <a:avLst/>
            <a:gdLst/>
            <a:ahLst/>
            <a:cxnLst/>
            <a:rect l="l" t="t" r="r" b="b"/>
            <a:pathLst>
              <a:path w="1436638" h="1790700">
                <a:moveTo>
                  <a:pt x="95250" y="0"/>
                </a:moveTo>
                <a:lnTo>
                  <a:pt x="1341388" y="0"/>
                </a:lnTo>
                <a:arcTo hR="95250" wR="95250" stAng="16200000" swAng="5400000"/>
                <a:lnTo>
                  <a:pt x="1436638" y="1752600"/>
                </a:lnTo>
                <a:arcTo hR="38100" wR="38100" stAng="0" swAng="5400000"/>
                <a:lnTo>
                  <a:pt x="38100" y="1790700"/>
                </a:lnTo>
                <a:arcTo hR="38100" wR="38100" stAng="5400000" swAng="5400000"/>
                <a:lnTo>
                  <a:pt x="0" y="95250"/>
                </a:lnTo>
                <a:arcTo hR="95250" wR="95250" stAng="10800000" swAng="5400000"/>
                <a:close/>
              </a:path>
            </a:pathLst>
          </a:custGeom>
          <a:solidFill>
            <a:srgbClr val="6B46C1"/>
          </a:solidFill>
          <a:ln/>
        </p:spPr>
      </p:sp>
      <p:sp>
        <p:nvSpPr>
          <p:cNvPr id="36" name="Text 34"/>
          <p:cNvSpPr/>
          <p:nvPr/>
        </p:nvSpPr>
        <p:spPr>
          <a:xfrm>
            <a:off x="6418064" y="5886450"/>
            <a:ext cx="24928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7670304" y="2466975"/>
            <a:ext cx="3759696" cy="2600325"/>
          </a:xfrm>
          <a:prstGeom prst="roundRect">
            <a:avLst>
              <a:gd name="adj" fmla="val 5861"/>
            </a:avLst>
          </a:prstGeom>
          <a:solidFill>
            <a:srgbClr val="F8F8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89379" y="2667000"/>
            <a:ext cx="365370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spc="78" kern="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 MIX</a:t>
            </a:r>
            <a:endParaRPr lang="en-US" sz="975" dirty="0"/>
          </a:p>
        </p:txBody>
      </p:sp>
      <p:sp>
        <p:nvSpPr>
          <p:cNvPr id="39" name="Text 37"/>
          <p:cNvSpPr/>
          <p:nvPr/>
        </p:nvSpPr>
        <p:spPr>
          <a:xfrm>
            <a:off x="7889379" y="3352800"/>
            <a:ext cx="74280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pilots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10852845" y="3352800"/>
            <a:ext cx="43428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$1.2k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889379" y="3562350"/>
            <a:ext cx="3321546" cy="85725"/>
          </a:xfrm>
          <a:prstGeom prst="roundRect">
            <a:avLst>
              <a:gd name="adj" fmla="val 50000"/>
            </a:avLst>
          </a:prstGeom>
          <a:solidFill>
            <a:srgbClr val="F1F0F5"/>
          </a:solidFill>
          <a:ln/>
        </p:spPr>
      </p:sp>
      <p:sp>
        <p:nvSpPr>
          <p:cNvPr id="42" name="Shape 40"/>
          <p:cNvSpPr/>
          <p:nvPr/>
        </p:nvSpPr>
        <p:spPr>
          <a:xfrm>
            <a:off x="7889379" y="3562350"/>
            <a:ext cx="2225427" cy="85725"/>
          </a:xfrm>
          <a:prstGeom prst="roundRect">
            <a:avLst>
              <a:gd name="adj" fmla="val 50000"/>
            </a:avLst>
          </a:prstGeom>
          <a:solidFill>
            <a:srgbClr val="6B46C1"/>
          </a:solidFill>
          <a:ln/>
        </p:spPr>
      </p:sp>
      <p:sp>
        <p:nvSpPr>
          <p:cNvPr id="43" name="Text 41"/>
          <p:cNvSpPr/>
          <p:nvPr/>
        </p:nvSpPr>
        <p:spPr>
          <a:xfrm>
            <a:off x="7889379" y="3762375"/>
            <a:ext cx="101277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prepay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10816828" y="3762375"/>
            <a:ext cx="47029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$0.4k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7889379" y="3971925"/>
            <a:ext cx="3321546" cy="85725"/>
          </a:xfrm>
          <a:prstGeom prst="roundRect">
            <a:avLst>
              <a:gd name="adj" fmla="val 50000"/>
            </a:avLst>
          </a:prstGeom>
          <a:solidFill>
            <a:srgbClr val="F1F0F5"/>
          </a:solidFill>
          <a:ln/>
        </p:spPr>
      </p:sp>
      <p:sp>
        <p:nvSpPr>
          <p:cNvPr id="46" name="Shape 44"/>
          <p:cNvSpPr/>
          <p:nvPr/>
        </p:nvSpPr>
        <p:spPr>
          <a:xfrm>
            <a:off x="7889379" y="3971925"/>
            <a:ext cx="730597" cy="85725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47" name="Text 45"/>
          <p:cNvSpPr/>
          <p:nvPr/>
        </p:nvSpPr>
        <p:spPr>
          <a:xfrm>
            <a:off x="7889379" y="4171950"/>
            <a:ext cx="63996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0823525" y="4171950"/>
            <a:ext cx="46360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$0.2k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889379" y="4381500"/>
            <a:ext cx="3321546" cy="85725"/>
          </a:xfrm>
          <a:prstGeom prst="roundRect">
            <a:avLst>
              <a:gd name="adj" fmla="val 50000"/>
            </a:avLst>
          </a:prstGeom>
          <a:solidFill>
            <a:srgbClr val="F1F0F5"/>
          </a:solidFill>
          <a:ln/>
        </p:spPr>
      </p:sp>
      <p:sp>
        <p:nvSpPr>
          <p:cNvPr id="50" name="Shape 48"/>
          <p:cNvSpPr/>
          <p:nvPr/>
        </p:nvSpPr>
        <p:spPr>
          <a:xfrm>
            <a:off x="7889379" y="4381500"/>
            <a:ext cx="365224" cy="85725"/>
          </a:xfrm>
          <a:prstGeom prst="roundRect">
            <a:avLst>
              <a:gd name="adj" fmla="val 50000"/>
            </a:avLst>
          </a:prstGeom>
          <a:solidFill>
            <a:srgbClr val="C4B5FD"/>
          </a:solidFill>
          <a:ln/>
        </p:spPr>
      </p:sp>
      <p:sp>
        <p:nvSpPr>
          <p:cNvPr id="51" name="Shape 49"/>
          <p:cNvSpPr/>
          <p:nvPr/>
        </p:nvSpPr>
        <p:spPr>
          <a:xfrm>
            <a:off x="7670304" y="5200650"/>
            <a:ext cx="3759696" cy="1085850"/>
          </a:xfrm>
          <a:prstGeom prst="roundRect">
            <a:avLst>
              <a:gd name="adj" fmla="val 14035"/>
            </a:avLst>
          </a:prstGeom>
          <a:solidFill>
            <a:srgbClr val="F5F3FF"/>
          </a:solidFill>
          <a:ln w="9525">
            <a:solidFill>
              <a:srgbClr val="E9E4F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870329" y="5362575"/>
            <a:ext cx="3695611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63" b="1" spc="52" kern="0" dirty="0">
                <a:solidFill>
                  <a:srgbClr val="8B5C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863" dirty="0"/>
          </a:p>
        </p:txBody>
      </p:sp>
      <p:sp>
        <p:nvSpPr>
          <p:cNvPr id="53" name="Text 51"/>
          <p:cNvSpPr/>
          <p:nvPr/>
        </p:nvSpPr>
        <p:spPr>
          <a:xfrm>
            <a:off x="7870329" y="5553075"/>
            <a:ext cx="346043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63"/>
              </a:lnSpc>
              <a:buNone/>
            </a:pPr>
            <a:r>
              <a:rPr lang="en-US" sz="1013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 is recurring and expanding month over month, converted directly from logged discovery interviews.</a:t>
            </a:r>
            <a:endParaRPr lang="en-US" sz="101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11488341" y="6467475"/>
            <a:ext cx="360759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8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62000" y="571500"/>
            <a:ext cx="94595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spc="135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10485090" y="581025"/>
            <a:ext cx="102111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40% complete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62000" y="828675"/>
            <a:ext cx="1173480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spc="-51" kern="0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NovaCraft AI · 12-month roadmap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762000" y="1466850"/>
            <a:ext cx="3441650" cy="4819650"/>
          </a:xfrm>
          <a:prstGeom prst="roundRect">
            <a:avLst>
              <a:gd name="adj" fmla="val 4428"/>
            </a:avLst>
          </a:prstGeom>
          <a:solidFill>
            <a:srgbClr val="F0FBF4"/>
          </a:solidFill>
          <a:ln w="9525">
            <a:solidFill>
              <a:srgbClr val="C6F6D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075" y="168592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C6F6D5"/>
          </a:solidFill>
          <a:ln/>
        </p:spPr>
      </p:sp>
      <p:sp>
        <p:nvSpPr>
          <p:cNvPr id="9" name="Text 7"/>
          <p:cNvSpPr/>
          <p:nvPr/>
        </p:nvSpPr>
        <p:spPr>
          <a:xfrm>
            <a:off x="1094482" y="1747838"/>
            <a:ext cx="135136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F85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362075" y="1757363"/>
            <a:ext cx="84742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45" kern="0" dirty="0">
                <a:solidFill>
                  <a:srgbClr val="2F85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81075" y="2028825"/>
            <a:ext cx="330385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 &amp; Structure</a:t>
            </a:r>
            <a:endParaRPr lang="en-US" sz="1575" dirty="0"/>
          </a:p>
        </p:txBody>
      </p:sp>
      <p:sp>
        <p:nvSpPr>
          <p:cNvPr id="12" name="Text 10"/>
          <p:cNvSpPr/>
          <p:nvPr/>
        </p:nvSpPr>
        <p:spPr>
          <a:xfrm>
            <a:off x="981075" y="2305050"/>
            <a:ext cx="330385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13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Weeks 1–2 · done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981075" y="2619375"/>
            <a:ext cx="180975" cy="180975"/>
          </a:xfrm>
          <a:prstGeom prst="roundRect">
            <a:avLst>
              <a:gd name="adj" fmla="val 31579"/>
            </a:avLst>
          </a:prstGeom>
          <a:solidFill>
            <a:srgbClr val="38A169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1075" y="2619375"/>
            <a:ext cx="180975" cy="180975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257300" y="2609850"/>
            <a:ext cx="167083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579"/>
              </a:lnSpc>
              <a:buNone/>
            </a:pPr>
            <a:r>
              <a:rPr lang="en-US" sz="112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 &amp; ICP defined</a:t>
            </a:r>
            <a:endParaRPr lang="en-US" sz="1125" dirty="0"/>
          </a:p>
        </p:txBody>
      </p:sp>
      <p:sp>
        <p:nvSpPr>
          <p:cNvPr id="16" name="Shape 13"/>
          <p:cNvSpPr/>
          <p:nvPr/>
        </p:nvSpPr>
        <p:spPr>
          <a:xfrm>
            <a:off x="981075" y="2895600"/>
            <a:ext cx="180975" cy="180975"/>
          </a:xfrm>
          <a:prstGeom prst="roundRect">
            <a:avLst>
              <a:gd name="adj" fmla="val 31579"/>
            </a:avLst>
          </a:prstGeom>
          <a:solidFill>
            <a:srgbClr val="38A169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1075" y="2895600"/>
            <a:ext cx="180975" cy="180975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257300" y="2886075"/>
            <a:ext cx="174368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579"/>
              </a:lnSpc>
              <a:buNone/>
            </a:pPr>
            <a:r>
              <a:rPr lang="en-US" sz="112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customer interviews</a:t>
            </a:r>
            <a:endParaRPr lang="en-US" sz="1125" dirty="0"/>
          </a:p>
        </p:txBody>
      </p:sp>
      <p:sp>
        <p:nvSpPr>
          <p:cNvPr id="19" name="Shape 15"/>
          <p:cNvSpPr/>
          <p:nvPr/>
        </p:nvSpPr>
        <p:spPr>
          <a:xfrm>
            <a:off x="981075" y="3171825"/>
            <a:ext cx="180975" cy="180975"/>
          </a:xfrm>
          <a:prstGeom prst="roundRect">
            <a:avLst>
              <a:gd name="adj" fmla="val 31579"/>
            </a:avLst>
          </a:prstGeom>
          <a:solidFill>
            <a:srgbClr val="38A169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1075" y="3171825"/>
            <a:ext cx="180975" cy="18097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257300" y="3162300"/>
            <a:ext cx="191852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579"/>
              </a:lnSpc>
              <a:buNone/>
            </a:pPr>
            <a:r>
              <a:rPr lang="en-US" sz="112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Incorporated + 83(b) filed</a:t>
            </a:r>
            <a:endParaRPr lang="en-US" sz="1125" dirty="0"/>
          </a:p>
        </p:txBody>
      </p:sp>
      <p:sp>
        <p:nvSpPr>
          <p:cNvPr id="22" name="Shape 17"/>
          <p:cNvSpPr/>
          <p:nvPr/>
        </p:nvSpPr>
        <p:spPr>
          <a:xfrm>
            <a:off x="4375100" y="1466850"/>
            <a:ext cx="3441650" cy="4819650"/>
          </a:xfrm>
          <a:prstGeom prst="roundRect">
            <a:avLst>
              <a:gd name="adj" fmla="val 4428"/>
            </a:avLst>
          </a:prstGeom>
          <a:solidFill>
            <a:srgbClr val="F7F5FF"/>
          </a:solidFill>
          <a:ln w="9525">
            <a:solidFill>
              <a:srgbClr val="E9E4F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594175" y="168592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DE9FE"/>
          </a:solidFill>
          <a:ln/>
        </p:spPr>
      </p:sp>
      <p:sp>
        <p:nvSpPr>
          <p:cNvPr id="24" name="Text 19"/>
          <p:cNvSpPr/>
          <p:nvPr/>
        </p:nvSpPr>
        <p:spPr>
          <a:xfrm>
            <a:off x="4694486" y="1747838"/>
            <a:ext cx="16133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4975175" y="1757363"/>
            <a:ext cx="90517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45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PROGRESS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594175" y="2028825"/>
            <a:ext cx="330385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&amp; Pitch</a:t>
            </a:r>
            <a:endParaRPr lang="en-US" sz="1575" dirty="0"/>
          </a:p>
        </p:txBody>
      </p:sp>
      <p:sp>
        <p:nvSpPr>
          <p:cNvPr id="27" name="Text 22"/>
          <p:cNvSpPr/>
          <p:nvPr/>
        </p:nvSpPr>
        <p:spPr>
          <a:xfrm>
            <a:off x="4594175" y="2305050"/>
            <a:ext cx="330385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13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Weeks 3–4 · now</a:t>
            </a:r>
            <a:endParaRPr lang="en-US" sz="1013" dirty="0"/>
          </a:p>
        </p:txBody>
      </p:sp>
      <p:sp>
        <p:nvSpPr>
          <p:cNvPr id="28" name="Shape 23"/>
          <p:cNvSpPr/>
          <p:nvPr/>
        </p:nvSpPr>
        <p:spPr>
          <a:xfrm>
            <a:off x="4594175" y="2619375"/>
            <a:ext cx="180975" cy="180975"/>
          </a:xfrm>
          <a:prstGeom prst="roundRect">
            <a:avLst>
              <a:gd name="adj" fmla="val 31579"/>
            </a:avLst>
          </a:prstGeom>
          <a:solidFill>
            <a:srgbClr val="38A169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94175" y="2619375"/>
            <a:ext cx="180975" cy="180975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4870400" y="2609850"/>
            <a:ext cx="138679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579"/>
              </a:lnSpc>
              <a:buNone/>
            </a:pPr>
            <a:r>
              <a:rPr lang="en-US" sz="112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MVP scope locked</a:t>
            </a:r>
            <a:endParaRPr lang="en-US" sz="1125" dirty="0"/>
          </a:p>
        </p:txBody>
      </p:sp>
      <p:sp>
        <p:nvSpPr>
          <p:cNvPr id="31" name="Shape 25"/>
          <p:cNvSpPr/>
          <p:nvPr/>
        </p:nvSpPr>
        <p:spPr>
          <a:xfrm>
            <a:off x="4594175" y="2895600"/>
            <a:ext cx="209550" cy="20955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4288">
            <a:solidFill>
              <a:srgbClr val="CBD5E0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08463" y="2909888"/>
            <a:ext cx="180975" cy="180975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4898975" y="2886075"/>
            <a:ext cx="146652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579"/>
              </a:lnSpc>
              <a:buNone/>
            </a:pPr>
            <a:r>
              <a:rPr lang="en-US" sz="1125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beta shipped</a:t>
            </a:r>
            <a:endParaRPr lang="en-US" sz="1125" dirty="0"/>
          </a:p>
        </p:txBody>
      </p:sp>
      <p:sp>
        <p:nvSpPr>
          <p:cNvPr id="34" name="Shape 27"/>
          <p:cNvSpPr/>
          <p:nvPr/>
        </p:nvSpPr>
        <p:spPr>
          <a:xfrm>
            <a:off x="4594175" y="3200400"/>
            <a:ext cx="180975" cy="180975"/>
          </a:xfrm>
          <a:prstGeom prst="roundRect">
            <a:avLst>
              <a:gd name="adj" fmla="val 31579"/>
            </a:avLst>
          </a:prstGeom>
          <a:solidFill>
            <a:srgbClr val="38A169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94175" y="3200400"/>
            <a:ext cx="180975" cy="180975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4870400" y="3190875"/>
            <a:ext cx="96321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579"/>
              </a:lnSpc>
              <a:buNone/>
            </a:pPr>
            <a:r>
              <a:rPr lang="en-US" sz="112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Pitch deck v1</a:t>
            </a:r>
            <a:endParaRPr lang="en-US" sz="1125" dirty="0"/>
          </a:p>
        </p:txBody>
      </p:sp>
      <p:sp>
        <p:nvSpPr>
          <p:cNvPr id="37" name="Shape 29"/>
          <p:cNvSpPr/>
          <p:nvPr/>
        </p:nvSpPr>
        <p:spPr>
          <a:xfrm>
            <a:off x="7988201" y="1466850"/>
            <a:ext cx="3441650" cy="4819650"/>
          </a:xfrm>
          <a:prstGeom prst="roundRect">
            <a:avLst>
              <a:gd name="adj" fmla="val 4428"/>
            </a:avLst>
          </a:prstGeom>
          <a:solidFill>
            <a:srgbClr val="F8F8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8207276" y="168592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/>
        </p:spPr>
      </p:sp>
      <p:sp>
        <p:nvSpPr>
          <p:cNvPr id="39" name="Text 31"/>
          <p:cNvSpPr/>
          <p:nvPr/>
        </p:nvSpPr>
        <p:spPr>
          <a:xfrm>
            <a:off x="8306246" y="1747838"/>
            <a:ext cx="16386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8588276" y="1757363"/>
            <a:ext cx="76691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45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UPCOMING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8207276" y="2028825"/>
            <a:ext cx="330385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 post-program</a:t>
            </a:r>
            <a:endParaRPr lang="en-US" sz="1575" dirty="0"/>
          </a:p>
        </p:txBody>
      </p:sp>
      <p:sp>
        <p:nvSpPr>
          <p:cNvPr id="42" name="Text 34"/>
          <p:cNvSpPr/>
          <p:nvPr/>
        </p:nvSpPr>
        <p:spPr>
          <a:xfrm>
            <a:off x="8207276" y="2305050"/>
            <a:ext cx="330385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13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2–12</a:t>
            </a:r>
            <a:endParaRPr lang="en-US" sz="1013" dirty="0"/>
          </a:p>
        </p:txBody>
      </p:sp>
      <p:sp>
        <p:nvSpPr>
          <p:cNvPr id="43" name="Shape 35"/>
          <p:cNvSpPr/>
          <p:nvPr/>
        </p:nvSpPr>
        <p:spPr>
          <a:xfrm>
            <a:off x="8207276" y="2619375"/>
            <a:ext cx="209550" cy="20955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4288">
            <a:solidFill>
              <a:srgbClr val="CBD5E0"/>
            </a:solidFill>
            <a:prstDash val="solid"/>
          </a:ln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221563" y="2633663"/>
            <a:ext cx="180975" cy="180975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8512076" y="2609850"/>
            <a:ext cx="163989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579"/>
              </a:lnSpc>
              <a:buNone/>
            </a:pPr>
            <a:r>
              <a:rPr lang="en-US" sz="1125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500 teams onboarded</a:t>
            </a:r>
            <a:endParaRPr lang="en-US" sz="1125" dirty="0"/>
          </a:p>
        </p:txBody>
      </p:sp>
      <p:sp>
        <p:nvSpPr>
          <p:cNvPr id="46" name="Shape 37"/>
          <p:cNvSpPr/>
          <p:nvPr/>
        </p:nvSpPr>
        <p:spPr>
          <a:xfrm>
            <a:off x="8207276" y="2924175"/>
            <a:ext cx="209550" cy="20955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4288">
            <a:solidFill>
              <a:srgbClr val="CBD5E0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221563" y="2938463"/>
            <a:ext cx="180975" cy="180975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8512076" y="2914650"/>
            <a:ext cx="126905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579"/>
              </a:lnSpc>
              <a:buNone/>
            </a:pPr>
            <a:r>
              <a:rPr lang="en-US" sz="1125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$1M ARR run-rate</a:t>
            </a:r>
            <a:endParaRPr lang="en-US" sz="1125" dirty="0"/>
          </a:p>
        </p:txBody>
      </p:sp>
      <p:sp>
        <p:nvSpPr>
          <p:cNvPr id="49" name="Shape 39"/>
          <p:cNvSpPr/>
          <p:nvPr/>
        </p:nvSpPr>
        <p:spPr>
          <a:xfrm>
            <a:off x="8207276" y="3228975"/>
            <a:ext cx="209550" cy="20955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4288">
            <a:solidFill>
              <a:srgbClr val="CBD5E0"/>
            </a:solidFill>
            <a:prstDash val="solid"/>
          </a:ln>
        </p:spPr>
      </p:sp>
      <p:pic>
        <p:nvPicPr>
          <p:cNvPr id="50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221563" y="3243263"/>
            <a:ext cx="180975" cy="180975"/>
          </a:xfrm>
          <a:prstGeom prst="rect">
            <a:avLst/>
          </a:prstGeom>
        </p:spPr>
      </p:pic>
      <p:sp>
        <p:nvSpPr>
          <p:cNvPr id="51" name="Text 40"/>
          <p:cNvSpPr/>
          <p:nvPr/>
        </p:nvSpPr>
        <p:spPr>
          <a:xfrm>
            <a:off x="8512076" y="3219450"/>
            <a:ext cx="139449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579"/>
              </a:lnSpc>
              <a:buNone/>
            </a:pPr>
            <a:r>
              <a:rPr lang="en-US" sz="1125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Seed round closed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11488341" y="6467475"/>
            <a:ext cx="360759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8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62000" y="647700"/>
            <a:ext cx="1173480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spc="135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&amp; NETWORK</a:t>
            </a:r>
            <a:endParaRPr lang="en-US" sz="1125" dirty="0"/>
          </a:p>
        </p:txBody>
      </p:sp>
      <p:sp>
        <p:nvSpPr>
          <p:cNvPr id="5" name="Shape 3"/>
          <p:cNvSpPr/>
          <p:nvPr/>
        </p:nvSpPr>
        <p:spPr>
          <a:xfrm>
            <a:off x="762000" y="1095375"/>
            <a:ext cx="2771775" cy="2133600"/>
          </a:xfrm>
          <a:prstGeom prst="roundRect">
            <a:avLst>
              <a:gd name="adj" fmla="val 7143"/>
            </a:avLst>
          </a:prstGeom>
          <a:solidFill>
            <a:srgbClr val="F8F8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04988" y="1314450"/>
            <a:ext cx="685800" cy="685800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7" name="Text 5"/>
          <p:cNvSpPr/>
          <p:nvPr/>
        </p:nvSpPr>
        <p:spPr>
          <a:xfrm>
            <a:off x="1959025" y="1519238"/>
            <a:ext cx="37757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56945" y="2124075"/>
            <a:ext cx="1981885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Guillaume Laurent</a:t>
            </a:r>
            <a:endParaRPr lang="en-US" sz="1575" dirty="0"/>
          </a:p>
        </p:txBody>
      </p:sp>
      <p:sp>
        <p:nvSpPr>
          <p:cNvPr id="9" name="Text 7"/>
          <p:cNvSpPr/>
          <p:nvPr/>
        </p:nvSpPr>
        <p:spPr>
          <a:xfrm>
            <a:off x="1589782" y="2381250"/>
            <a:ext cx="111606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 &amp; CEO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942975" y="2647950"/>
            <a:ext cx="240982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294"/>
              </a:lnSpc>
              <a:buNone/>
            </a:pPr>
            <a:r>
              <a:rPr lang="en-US" sz="10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Ex-Stripe. 8 years building async collaboration tools.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86175" y="1095375"/>
            <a:ext cx="2771775" cy="2133600"/>
          </a:xfrm>
          <a:prstGeom prst="roundRect">
            <a:avLst>
              <a:gd name="adj" fmla="val 7143"/>
            </a:avLst>
          </a:prstGeom>
          <a:solidFill>
            <a:srgbClr val="F8F8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29163" y="1314450"/>
            <a:ext cx="685800" cy="68580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13" name="Text 11"/>
          <p:cNvSpPr/>
          <p:nvPr/>
        </p:nvSpPr>
        <p:spPr>
          <a:xfrm>
            <a:off x="4871889" y="1519238"/>
            <a:ext cx="40034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1164" y="2124075"/>
            <a:ext cx="1041797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Priya Nair</a:t>
            </a:r>
            <a:endParaRPr lang="en-US" sz="1575" dirty="0"/>
          </a:p>
        </p:txBody>
      </p:sp>
      <p:sp>
        <p:nvSpPr>
          <p:cNvPr id="15" name="Text 13"/>
          <p:cNvSpPr/>
          <p:nvPr/>
        </p:nvSpPr>
        <p:spPr>
          <a:xfrm>
            <a:off x="4370896" y="2381250"/>
            <a:ext cx="1402184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Co-founder &amp; CTO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3867150" y="2647950"/>
            <a:ext cx="240982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294"/>
              </a:lnSpc>
              <a:buNone/>
            </a:pPr>
            <a:r>
              <a:rPr lang="en-US" sz="10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Ex-Notion infra. Led real-time sync at scale.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62000" y="3381375"/>
            <a:ext cx="56959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23925" y="3524250"/>
            <a:ext cx="381000" cy="381000"/>
          </a:xfrm>
          <a:prstGeom prst="ellipse">
            <a:avLst/>
          </a:prstGeom>
          <a:solidFill>
            <a:srgbClr val="F7F5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19175" y="3633788"/>
            <a:ext cx="26655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419225" y="3533775"/>
            <a:ext cx="72583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Rae Osei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135535" y="3548063"/>
            <a:ext cx="593527" cy="161925"/>
          </a:xfrm>
          <a:prstGeom prst="roundRect">
            <a:avLst>
              <a:gd name="adj" fmla="val 29412"/>
            </a:avLst>
          </a:prstGeom>
          <a:solidFill>
            <a:srgbClr val="EDE9FE"/>
          </a:solidFill>
          <a:ln/>
        </p:spPr>
      </p:sp>
      <p:sp>
        <p:nvSpPr>
          <p:cNvPr id="22" name="Text 20"/>
          <p:cNvSpPr/>
          <p:nvPr/>
        </p:nvSpPr>
        <p:spPr>
          <a:xfrm>
            <a:off x="2202210" y="3567113"/>
            <a:ext cx="536377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</a:t>
            </a:r>
            <a:endParaRPr lang="en-US" sz="788" dirty="0"/>
          </a:p>
        </p:txBody>
      </p:sp>
      <p:sp>
        <p:nvSpPr>
          <p:cNvPr id="23" name="Text 21"/>
          <p:cNvSpPr/>
          <p:nvPr/>
        </p:nvSpPr>
        <p:spPr>
          <a:xfrm>
            <a:off x="1419225" y="3743325"/>
            <a:ext cx="144082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13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GTM · 0.5%</a:t>
            </a:r>
            <a:endParaRPr lang="en-US" sz="1013" dirty="0"/>
          </a:p>
        </p:txBody>
      </p:sp>
      <p:sp>
        <p:nvSpPr>
          <p:cNvPr id="24" name="Shape 22"/>
          <p:cNvSpPr/>
          <p:nvPr/>
        </p:nvSpPr>
        <p:spPr>
          <a:xfrm>
            <a:off x="762000" y="4162425"/>
            <a:ext cx="56959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3925" y="4305300"/>
            <a:ext cx="381000" cy="381000"/>
          </a:xfrm>
          <a:prstGeom prst="ellipse">
            <a:avLst/>
          </a:prstGeom>
          <a:solidFill>
            <a:srgbClr val="F7F5FF"/>
          </a:solidFill>
          <a:ln/>
        </p:spPr>
      </p:sp>
      <p:sp>
        <p:nvSpPr>
          <p:cNvPr id="26" name="Text 24"/>
          <p:cNvSpPr/>
          <p:nvPr/>
        </p:nvSpPr>
        <p:spPr>
          <a:xfrm>
            <a:off x="1014561" y="4414838"/>
            <a:ext cx="2759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419225" y="4314825"/>
            <a:ext cx="89356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Marcus Lin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303264" y="4329113"/>
            <a:ext cx="593527" cy="161925"/>
          </a:xfrm>
          <a:prstGeom prst="roundRect">
            <a:avLst>
              <a:gd name="adj" fmla="val 29412"/>
            </a:avLst>
          </a:prstGeom>
          <a:solidFill>
            <a:srgbClr val="EDE9FE"/>
          </a:solidFill>
          <a:ln/>
        </p:spPr>
      </p:sp>
      <p:sp>
        <p:nvSpPr>
          <p:cNvPr id="29" name="Text 27"/>
          <p:cNvSpPr/>
          <p:nvPr/>
        </p:nvSpPr>
        <p:spPr>
          <a:xfrm>
            <a:off x="2369939" y="4348163"/>
            <a:ext cx="536377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788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</a:t>
            </a:r>
            <a:endParaRPr lang="en-US" sz="788" dirty="0"/>
          </a:p>
        </p:txBody>
      </p:sp>
      <p:sp>
        <p:nvSpPr>
          <p:cNvPr id="30" name="Text 28"/>
          <p:cNvSpPr/>
          <p:nvPr/>
        </p:nvSpPr>
        <p:spPr>
          <a:xfrm>
            <a:off x="1419225" y="4524375"/>
            <a:ext cx="1625322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13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SaaS · 0.4%</a:t>
            </a:r>
            <a:endParaRPr lang="en-US" sz="1013" dirty="0"/>
          </a:p>
        </p:txBody>
      </p:sp>
      <p:sp>
        <p:nvSpPr>
          <p:cNvPr id="31" name="Shape 29"/>
          <p:cNvSpPr/>
          <p:nvPr/>
        </p:nvSpPr>
        <p:spPr>
          <a:xfrm>
            <a:off x="6686550" y="1095375"/>
            <a:ext cx="4743450" cy="5191125"/>
          </a:xfrm>
          <a:prstGeom prst="roundRect">
            <a:avLst>
              <a:gd name="adj" fmla="val 3614"/>
            </a:avLst>
          </a:prstGeom>
          <a:solidFill>
            <a:srgbClr val="17142E"/>
          </a:solidFill>
          <a:ln/>
        </p:spPr>
      </p:sp>
      <p:sp>
        <p:nvSpPr>
          <p:cNvPr id="32" name="Text 30"/>
          <p:cNvSpPr/>
          <p:nvPr/>
        </p:nvSpPr>
        <p:spPr>
          <a:xfrm>
            <a:off x="6953250" y="1343025"/>
            <a:ext cx="463105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spc="78" kern="0" dirty="0">
                <a:solidFill>
                  <a:srgbClr val="A89F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COVERAGE</a:t>
            </a:r>
            <a:endParaRPr lang="en-US" sz="975" dirty="0"/>
          </a:p>
        </p:txBody>
      </p:sp>
      <p:sp>
        <p:nvSpPr>
          <p:cNvPr id="33" name="Text 31"/>
          <p:cNvSpPr/>
          <p:nvPr/>
        </p:nvSpPr>
        <p:spPr>
          <a:xfrm>
            <a:off x="6953250" y="1533525"/>
            <a:ext cx="463105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8B7F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Personal Advisor skills assessment</a:t>
            </a:r>
            <a:endParaRPr lang="en-US" sz="975" dirty="0"/>
          </a:p>
        </p:txBody>
      </p:sp>
      <p:sp>
        <p:nvSpPr>
          <p:cNvPr id="34" name="Text 32"/>
          <p:cNvSpPr/>
          <p:nvPr/>
        </p:nvSpPr>
        <p:spPr>
          <a:xfrm>
            <a:off x="6953250" y="2667000"/>
            <a:ext cx="61942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E9E4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</a:t>
            </a:r>
            <a:endParaRPr lang="en-US" sz="1125" dirty="0"/>
          </a:p>
        </p:txBody>
      </p:sp>
      <p:sp>
        <p:nvSpPr>
          <p:cNvPr id="35" name="Text 33"/>
          <p:cNvSpPr/>
          <p:nvPr/>
        </p:nvSpPr>
        <p:spPr>
          <a:xfrm>
            <a:off x="10758190" y="2667000"/>
            <a:ext cx="48131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A89F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Strong</a:t>
            </a:r>
            <a:endParaRPr lang="en-US" sz="975" dirty="0"/>
          </a:p>
        </p:txBody>
      </p:sp>
      <p:sp>
        <p:nvSpPr>
          <p:cNvPr id="36" name="Shape 34"/>
          <p:cNvSpPr/>
          <p:nvPr/>
        </p:nvSpPr>
        <p:spPr>
          <a:xfrm>
            <a:off x="6953250" y="2905125"/>
            <a:ext cx="4210050" cy="85725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953250" y="2905125"/>
            <a:ext cx="3578423" cy="85725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38" name="Text 36"/>
          <p:cNvSpPr/>
          <p:nvPr/>
        </p:nvSpPr>
        <p:spPr>
          <a:xfrm>
            <a:off x="6953250" y="3143250"/>
            <a:ext cx="90517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E9E4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</a:t>
            </a:r>
            <a:endParaRPr lang="en-US" sz="1125" dirty="0"/>
          </a:p>
        </p:txBody>
      </p:sp>
      <p:sp>
        <p:nvSpPr>
          <p:cNvPr id="39" name="Text 37"/>
          <p:cNvSpPr/>
          <p:nvPr/>
        </p:nvSpPr>
        <p:spPr>
          <a:xfrm>
            <a:off x="10758190" y="3143250"/>
            <a:ext cx="48131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A89F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Strong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6953250" y="3381375"/>
            <a:ext cx="4210050" cy="85725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953250" y="3381375"/>
            <a:ext cx="3367980" cy="85725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42" name="Text 40"/>
          <p:cNvSpPr/>
          <p:nvPr/>
        </p:nvSpPr>
        <p:spPr>
          <a:xfrm>
            <a:off x="6953250" y="3619500"/>
            <a:ext cx="102200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E9E4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125" dirty="0"/>
          </a:p>
        </p:txBody>
      </p:sp>
      <p:sp>
        <p:nvSpPr>
          <p:cNvPr id="43" name="Text 41"/>
          <p:cNvSpPr/>
          <p:nvPr/>
        </p:nvSpPr>
        <p:spPr>
          <a:xfrm>
            <a:off x="10920413" y="3619500"/>
            <a:ext cx="31908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6953250" y="3857625"/>
            <a:ext cx="4210050" cy="85725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953250" y="3857625"/>
            <a:ext cx="2105025" cy="85725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46" name="Text 44"/>
          <p:cNvSpPr/>
          <p:nvPr/>
        </p:nvSpPr>
        <p:spPr>
          <a:xfrm>
            <a:off x="6953250" y="4095750"/>
            <a:ext cx="102587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E9E4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 / Ops</a:t>
            </a:r>
            <a:endParaRPr lang="en-US" sz="1125" dirty="0"/>
          </a:p>
        </p:txBody>
      </p:sp>
      <p:sp>
        <p:nvSpPr>
          <p:cNvPr id="47" name="Text 45"/>
          <p:cNvSpPr/>
          <p:nvPr/>
        </p:nvSpPr>
        <p:spPr>
          <a:xfrm>
            <a:off x="10920413" y="4095750"/>
            <a:ext cx="31908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975" dirty="0"/>
          </a:p>
        </p:txBody>
      </p:sp>
      <p:sp>
        <p:nvSpPr>
          <p:cNvPr id="48" name="Shape 46"/>
          <p:cNvSpPr/>
          <p:nvPr/>
        </p:nvSpPr>
        <p:spPr>
          <a:xfrm>
            <a:off x="6953250" y="4333875"/>
            <a:ext cx="4210050" cy="85725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953250" y="4333875"/>
            <a:ext cx="1894433" cy="85725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50" name="Text 48"/>
          <p:cNvSpPr/>
          <p:nvPr/>
        </p:nvSpPr>
        <p:spPr>
          <a:xfrm>
            <a:off x="6953250" y="4572000"/>
            <a:ext cx="55661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E9E4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</a:t>
            </a:r>
            <a:endParaRPr lang="en-US" sz="1125" dirty="0"/>
          </a:p>
        </p:txBody>
      </p:sp>
      <p:sp>
        <p:nvSpPr>
          <p:cNvPr id="51" name="Text 49"/>
          <p:cNvSpPr/>
          <p:nvPr/>
        </p:nvSpPr>
        <p:spPr>
          <a:xfrm>
            <a:off x="10978753" y="4572000"/>
            <a:ext cx="26074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A89F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OK</a:t>
            </a:r>
            <a:endParaRPr lang="en-US" sz="975" dirty="0"/>
          </a:p>
        </p:txBody>
      </p:sp>
      <p:sp>
        <p:nvSpPr>
          <p:cNvPr id="52" name="Shape 50"/>
          <p:cNvSpPr/>
          <p:nvPr/>
        </p:nvSpPr>
        <p:spPr>
          <a:xfrm>
            <a:off x="6953250" y="4810125"/>
            <a:ext cx="4210050" cy="85725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953250" y="4810125"/>
            <a:ext cx="2946946" cy="85725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54" name="Shape 52"/>
          <p:cNvSpPr/>
          <p:nvPr/>
        </p:nvSpPr>
        <p:spPr>
          <a:xfrm>
            <a:off x="6953250" y="5743575"/>
            <a:ext cx="4210050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6953250" y="5886450"/>
            <a:ext cx="4336352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A89F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Gap: </a:t>
            </a:r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 &amp; Finance </a:t>
            </a:r>
            <a:pPr algn="l" indent="0" marL="0">
              <a:buNone/>
            </a:pPr>
            <a:r>
              <a:rPr lang="en-US" sz="975" dirty="0">
                <a:solidFill>
                  <a:srgbClr val="A89F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advisor matched</a:t>
            </a:r>
            <a:endParaRPr lang="en-US" sz="9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11435507" y="6467475"/>
            <a:ext cx="41359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8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62000" y="571500"/>
            <a:ext cx="427465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spc="135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762000" y="847725"/>
            <a:ext cx="2966770" cy="79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4717"/>
              </a:lnSpc>
              <a:buNone/>
            </a:pPr>
            <a:r>
              <a:rPr lang="en-US" sz="6600" b="1" spc="-198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$750K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3611463" y="1304925"/>
            <a:ext cx="111278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Pre-Seed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04002" y="790575"/>
            <a:ext cx="1779538" cy="809625"/>
          </a:xfrm>
          <a:prstGeom prst="roundRect">
            <a:avLst>
              <a:gd name="adj" fmla="val 16471"/>
            </a:avLst>
          </a:prstGeom>
          <a:solidFill>
            <a:srgbClr val="17142E"/>
          </a:solidFill>
          <a:ln/>
        </p:spPr>
      </p:sp>
      <p:sp>
        <p:nvSpPr>
          <p:cNvPr id="8" name="Text 6"/>
          <p:cNvSpPr/>
          <p:nvPr/>
        </p:nvSpPr>
        <p:spPr>
          <a:xfrm>
            <a:off x="8413552" y="942975"/>
            <a:ext cx="1496482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spc="59" kern="0" dirty="0">
                <a:solidFill>
                  <a:srgbClr val="8B7F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RUNWAY</a:t>
            </a:r>
            <a:endParaRPr lang="en-US" sz="975" dirty="0"/>
          </a:p>
        </p:txBody>
      </p:sp>
      <p:sp>
        <p:nvSpPr>
          <p:cNvPr id="9" name="Text 7"/>
          <p:cNvSpPr/>
          <p:nvPr/>
        </p:nvSpPr>
        <p:spPr>
          <a:xfrm>
            <a:off x="8413552" y="1123950"/>
            <a:ext cx="149648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months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0097839" y="790575"/>
            <a:ext cx="1332161" cy="809625"/>
          </a:xfrm>
          <a:prstGeom prst="roundRect">
            <a:avLst>
              <a:gd name="adj" fmla="val 16471"/>
            </a:avLst>
          </a:prstGeom>
          <a:solidFill>
            <a:srgbClr val="17142E"/>
          </a:solidFill>
          <a:ln/>
        </p:spPr>
      </p:sp>
      <p:sp>
        <p:nvSpPr>
          <p:cNvPr id="11" name="Text 9"/>
          <p:cNvSpPr/>
          <p:nvPr/>
        </p:nvSpPr>
        <p:spPr>
          <a:xfrm>
            <a:off x="10307389" y="942975"/>
            <a:ext cx="98926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spc="59" kern="0" dirty="0">
                <a:solidFill>
                  <a:srgbClr val="8B7F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POST-MONEY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10307389" y="1123950"/>
            <a:ext cx="98926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$6.5M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62000" y="1866900"/>
            <a:ext cx="6422216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b="1" spc="75" kern="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OF FUNDS · FROM WEEK 4</a:t>
            </a:r>
            <a:endParaRPr lang="en-US" sz="938" dirty="0"/>
          </a:p>
        </p:txBody>
      </p:sp>
      <p:sp>
        <p:nvSpPr>
          <p:cNvPr id="14" name="Shape 12"/>
          <p:cNvSpPr/>
          <p:nvPr/>
        </p:nvSpPr>
        <p:spPr>
          <a:xfrm>
            <a:off x="762000" y="2114550"/>
            <a:ext cx="3210967" cy="190500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15" name="Shape 13"/>
          <p:cNvSpPr/>
          <p:nvPr/>
        </p:nvSpPr>
        <p:spPr>
          <a:xfrm>
            <a:off x="3972967" y="2114550"/>
            <a:ext cx="1751409" cy="1905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Shape 14"/>
          <p:cNvSpPr/>
          <p:nvPr/>
        </p:nvSpPr>
        <p:spPr>
          <a:xfrm>
            <a:off x="5724376" y="2114550"/>
            <a:ext cx="875705" cy="190500"/>
          </a:xfrm>
          <a:prstGeom prst="rect">
            <a:avLst/>
          </a:prstGeom>
          <a:solidFill>
            <a:srgbClr val="C4B5FD"/>
          </a:solidFill>
          <a:ln/>
        </p:spPr>
      </p:sp>
      <p:sp>
        <p:nvSpPr>
          <p:cNvPr id="17" name="Shape 15"/>
          <p:cNvSpPr/>
          <p:nvPr/>
        </p:nvSpPr>
        <p:spPr>
          <a:xfrm>
            <a:off x="762000" y="2438400"/>
            <a:ext cx="5838379" cy="1219200"/>
          </a:xfrm>
          <a:prstGeom prst="roundRect">
            <a:avLst>
              <a:gd name="adj" fmla="val 10938"/>
            </a:avLst>
          </a:prstGeom>
          <a:solidFill>
            <a:srgbClr val="F8F8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2975" y="2995613"/>
            <a:ext cx="104775" cy="104775"/>
          </a:xfrm>
          <a:prstGeom prst="roundRect">
            <a:avLst>
              <a:gd name="adj" fmla="val 27273"/>
            </a:avLst>
          </a:prstGeom>
          <a:solidFill>
            <a:srgbClr val="6B46C1"/>
          </a:solidFill>
          <a:ln/>
        </p:spPr>
      </p:sp>
      <p:sp>
        <p:nvSpPr>
          <p:cNvPr id="19" name="Text 17"/>
          <p:cNvSpPr/>
          <p:nvPr/>
        </p:nvSpPr>
        <p:spPr>
          <a:xfrm>
            <a:off x="1200150" y="2914650"/>
            <a:ext cx="70485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2353"/>
              </a:lnSpc>
              <a:buNone/>
            </a:pPr>
            <a:r>
              <a:rPr lang="en-US" sz="2100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55%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981200" y="2862263"/>
            <a:ext cx="488202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</a:t>
            </a:r>
            <a:pPr algn="l" indent="0" marL="0">
              <a:buNone/>
            </a:pPr>
            <a:r>
              <a:rPr lang="en-US" sz="1200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$412K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981200" y="3071813"/>
            <a:ext cx="488202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687"/>
              </a:lnSpc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senior engineers + infra to ship public beta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762000" y="3752850"/>
            <a:ext cx="5838379" cy="1219200"/>
          </a:xfrm>
          <a:prstGeom prst="roundRect">
            <a:avLst>
              <a:gd name="adj" fmla="val 10938"/>
            </a:avLst>
          </a:prstGeom>
          <a:solidFill>
            <a:srgbClr val="F8F8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2975" y="4310063"/>
            <a:ext cx="104775" cy="104775"/>
          </a:xfrm>
          <a:prstGeom prst="roundRect">
            <a:avLst>
              <a:gd name="adj" fmla="val 27273"/>
            </a:avLst>
          </a:prstGeom>
          <a:solidFill>
            <a:srgbClr val="8B5CF6"/>
          </a:solidFill>
          <a:ln/>
        </p:spPr>
      </p:sp>
      <p:sp>
        <p:nvSpPr>
          <p:cNvPr id="24" name="Text 22"/>
          <p:cNvSpPr/>
          <p:nvPr/>
        </p:nvSpPr>
        <p:spPr>
          <a:xfrm>
            <a:off x="1200150" y="4229100"/>
            <a:ext cx="72270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2353"/>
              </a:lnSpc>
              <a:buNone/>
            </a:pPr>
            <a:r>
              <a:rPr lang="en-US" sz="2100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30%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999059" y="4176712"/>
            <a:ext cx="486237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 </a:t>
            </a:r>
            <a:pPr algn="l" indent="0" marL="0">
              <a:buNone/>
            </a:pPr>
            <a:r>
              <a:rPr lang="en-US" sz="1200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$225K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999059" y="4386263"/>
            <a:ext cx="486237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687"/>
              </a:lnSpc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Founder-led sales + first GTM hire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762000" y="5067300"/>
            <a:ext cx="5838379" cy="1219200"/>
          </a:xfrm>
          <a:prstGeom prst="roundRect">
            <a:avLst>
              <a:gd name="adj" fmla="val 10938"/>
            </a:avLst>
          </a:prstGeom>
          <a:solidFill>
            <a:srgbClr val="F8F8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2975" y="5624513"/>
            <a:ext cx="104775" cy="104775"/>
          </a:xfrm>
          <a:prstGeom prst="roundRect">
            <a:avLst>
              <a:gd name="adj" fmla="val 27273"/>
            </a:avLst>
          </a:prstGeom>
          <a:solidFill>
            <a:srgbClr val="C4B5FD"/>
          </a:solidFill>
          <a:ln/>
        </p:spPr>
      </p:sp>
      <p:sp>
        <p:nvSpPr>
          <p:cNvPr id="29" name="Text 27"/>
          <p:cNvSpPr/>
          <p:nvPr/>
        </p:nvSpPr>
        <p:spPr>
          <a:xfrm>
            <a:off x="1200150" y="5543550"/>
            <a:ext cx="70485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2353"/>
              </a:lnSpc>
              <a:buNone/>
            </a:pPr>
            <a:r>
              <a:rPr lang="en-US" sz="2100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981200" y="5491163"/>
            <a:ext cx="488202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Operations </a:t>
            </a:r>
            <a:pPr algn="l" indent="0" marL="0">
              <a:buNone/>
            </a:pPr>
            <a:r>
              <a:rPr lang="en-US" sz="1200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$113K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981200" y="5700713"/>
            <a:ext cx="488202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687"/>
              </a:lnSpc>
              <a:buNone/>
            </a:pPr>
            <a:r>
              <a:rPr lang="en-US" sz="97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Legal, compliance, and runway buffer</a:t>
            </a:r>
            <a:endParaRPr lang="en-US" sz="975" dirty="0"/>
          </a:p>
        </p:txBody>
      </p:sp>
      <p:sp>
        <p:nvSpPr>
          <p:cNvPr id="32" name="Shape 30"/>
          <p:cNvSpPr/>
          <p:nvPr/>
        </p:nvSpPr>
        <p:spPr>
          <a:xfrm>
            <a:off x="6848029" y="1866900"/>
            <a:ext cx="9525" cy="441960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105204" y="1866900"/>
            <a:ext cx="822722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b="1" spc="75" kern="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 TABLE</a:t>
            </a:r>
            <a:endParaRPr lang="en-US" sz="938" dirty="0"/>
          </a:p>
        </p:txBody>
      </p:sp>
      <p:sp>
        <p:nvSpPr>
          <p:cNvPr id="34" name="Text 32"/>
          <p:cNvSpPr/>
          <p:nvPr/>
        </p:nvSpPr>
        <p:spPr>
          <a:xfrm>
            <a:off x="10436423" y="1876425"/>
            <a:ext cx="1069777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10,000,000shares</a:t>
            </a:r>
            <a:endParaRPr lang="en-US" sz="863" dirty="0"/>
          </a:p>
        </p:txBody>
      </p:sp>
      <p:sp>
        <p:nvSpPr>
          <p:cNvPr id="35" name="Shape 33"/>
          <p:cNvSpPr/>
          <p:nvPr/>
        </p:nvSpPr>
        <p:spPr>
          <a:xfrm>
            <a:off x="7105204" y="2114550"/>
            <a:ext cx="990600" cy="990600"/>
          </a:xfrm>
          <a:prstGeom prst="ellipse">
            <a:avLst/>
          </a:prstGeom>
          <a:solidFill>
            <a:srgbClr val="6B46C1"/>
          </a:solidFill>
          <a:ln/>
        </p:spPr>
      </p:sp>
      <p:sp>
        <p:nvSpPr>
          <p:cNvPr id="36" name="Shape 34"/>
          <p:cNvSpPr/>
          <p:nvPr/>
        </p:nvSpPr>
        <p:spPr>
          <a:xfrm>
            <a:off x="7295704" y="2305050"/>
            <a:ext cx="609600" cy="609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7389316" y="2409825"/>
            <a:ext cx="498425" cy="133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7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Founders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7369076" y="2505075"/>
            <a:ext cx="53905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500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487394" y="2724150"/>
            <a:ext cx="302419" cy="123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1818"/>
              </a:lnSpc>
              <a:buNone/>
            </a:pPr>
            <a:r>
              <a:rPr lang="en-US" sz="67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675" dirty="0"/>
          </a:p>
        </p:txBody>
      </p:sp>
      <p:sp>
        <p:nvSpPr>
          <p:cNvPr id="40" name="Shape 38"/>
          <p:cNvSpPr/>
          <p:nvPr/>
        </p:nvSpPr>
        <p:spPr>
          <a:xfrm>
            <a:off x="8267254" y="2347913"/>
            <a:ext cx="104775" cy="104775"/>
          </a:xfrm>
          <a:prstGeom prst="roundRect">
            <a:avLst>
              <a:gd name="adj" fmla="val 27273"/>
            </a:avLst>
          </a:prstGeom>
          <a:solidFill>
            <a:srgbClr val="6B46C1"/>
          </a:solidFill>
          <a:ln/>
        </p:spPr>
      </p:sp>
      <p:sp>
        <p:nvSpPr>
          <p:cNvPr id="41" name="Text 39"/>
          <p:cNvSpPr/>
          <p:nvPr/>
        </p:nvSpPr>
        <p:spPr>
          <a:xfrm>
            <a:off x="8448229" y="2324100"/>
            <a:ext cx="62373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 · </a:t>
            </a:r>
            <a:pPr algn="l" indent="0" marL="0">
              <a:buNone/>
            </a:pPr>
            <a:r>
              <a:rPr lang="en-US" sz="975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55%</a:t>
            </a:r>
            <a:endParaRPr lang="en-US" sz="975" dirty="0"/>
          </a:p>
        </p:txBody>
      </p:sp>
      <p:sp>
        <p:nvSpPr>
          <p:cNvPr id="42" name="Shape 40"/>
          <p:cNvSpPr/>
          <p:nvPr/>
        </p:nvSpPr>
        <p:spPr>
          <a:xfrm>
            <a:off x="8267254" y="2557463"/>
            <a:ext cx="104775" cy="104775"/>
          </a:xfrm>
          <a:prstGeom prst="roundRect">
            <a:avLst>
              <a:gd name="adj" fmla="val 27273"/>
            </a:avLst>
          </a:prstGeom>
          <a:solidFill>
            <a:srgbClr val="8B5CF6"/>
          </a:solidFill>
          <a:ln/>
        </p:spPr>
      </p:sp>
      <p:sp>
        <p:nvSpPr>
          <p:cNvPr id="43" name="Text 41"/>
          <p:cNvSpPr/>
          <p:nvPr/>
        </p:nvSpPr>
        <p:spPr>
          <a:xfrm>
            <a:off x="8448229" y="2533650"/>
            <a:ext cx="636687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PN · </a:t>
            </a:r>
            <a:pPr algn="l" indent="0" marL="0">
              <a:buNone/>
            </a:pPr>
            <a:r>
              <a:rPr lang="en-US" sz="975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35%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8267254" y="2767013"/>
            <a:ext cx="104775" cy="104775"/>
          </a:xfrm>
          <a:prstGeom prst="roundRect">
            <a:avLst>
              <a:gd name="adj" fmla="val 27273"/>
            </a:avLst>
          </a:prstGeom>
          <a:solidFill>
            <a:srgbClr val="C4B5FD"/>
          </a:solidFill>
          <a:ln/>
        </p:spPr>
      </p:sp>
      <p:sp>
        <p:nvSpPr>
          <p:cNvPr id="45" name="Text 43"/>
          <p:cNvSpPr/>
          <p:nvPr/>
        </p:nvSpPr>
        <p:spPr>
          <a:xfrm>
            <a:off x="8448229" y="2743200"/>
            <a:ext cx="70112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Pool · </a:t>
            </a:r>
            <a:pPr algn="l" indent="0" marL="0">
              <a:buNone/>
            </a:pPr>
            <a:r>
              <a:rPr lang="en-US" sz="975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endParaRPr lang="en-US" sz="975" dirty="0"/>
          </a:p>
        </p:txBody>
      </p:sp>
      <p:sp>
        <p:nvSpPr>
          <p:cNvPr id="46" name="Shape 44"/>
          <p:cNvSpPr/>
          <p:nvPr/>
        </p:nvSpPr>
        <p:spPr>
          <a:xfrm>
            <a:off x="7105204" y="3238500"/>
            <a:ext cx="4324796" cy="1771650"/>
          </a:xfrm>
          <a:prstGeom prst="roundRect">
            <a:avLst>
              <a:gd name="adj" fmla="val 6989"/>
            </a:avLst>
          </a:prstGeom>
          <a:ln w="9525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14729" y="3248025"/>
            <a:ext cx="4305746" cy="304800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48" name="Text 46"/>
          <p:cNvSpPr/>
          <p:nvPr/>
        </p:nvSpPr>
        <p:spPr>
          <a:xfrm>
            <a:off x="7248079" y="3333750"/>
            <a:ext cx="156802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Shareholder</a:t>
            </a:r>
            <a:endParaRPr lang="en-US" sz="825" dirty="0"/>
          </a:p>
        </p:txBody>
      </p:sp>
      <p:sp>
        <p:nvSpPr>
          <p:cNvPr id="49" name="Text 47"/>
          <p:cNvSpPr/>
          <p:nvPr/>
        </p:nvSpPr>
        <p:spPr>
          <a:xfrm>
            <a:off x="8597354" y="3333750"/>
            <a:ext cx="868114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825" dirty="0"/>
          </a:p>
        </p:txBody>
      </p:sp>
      <p:sp>
        <p:nvSpPr>
          <p:cNvPr id="50" name="Text 48"/>
          <p:cNvSpPr/>
          <p:nvPr/>
        </p:nvSpPr>
        <p:spPr>
          <a:xfrm>
            <a:off x="9389269" y="3333750"/>
            <a:ext cx="868114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close</a:t>
            </a:r>
            <a:endParaRPr lang="en-US" sz="825" dirty="0"/>
          </a:p>
        </p:txBody>
      </p:sp>
      <p:sp>
        <p:nvSpPr>
          <p:cNvPr id="51" name="Text 49"/>
          <p:cNvSpPr/>
          <p:nvPr/>
        </p:nvSpPr>
        <p:spPr>
          <a:xfrm>
            <a:off x="10181183" y="3333750"/>
            <a:ext cx="110579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Vesting</a:t>
            </a:r>
            <a:endParaRPr lang="en-US" sz="825" dirty="0"/>
          </a:p>
        </p:txBody>
      </p:sp>
      <p:sp>
        <p:nvSpPr>
          <p:cNvPr id="52" name="Shape 50"/>
          <p:cNvSpPr/>
          <p:nvPr/>
        </p:nvSpPr>
        <p:spPr>
          <a:xfrm>
            <a:off x="7114729" y="3552825"/>
            <a:ext cx="4305746" cy="3619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7114729" y="3552825"/>
            <a:ext cx="4305746" cy="9525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54" name="Text 52"/>
          <p:cNvSpPr/>
          <p:nvPr/>
        </p:nvSpPr>
        <p:spPr>
          <a:xfrm>
            <a:off x="7248079" y="3667125"/>
            <a:ext cx="156802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Guillaume Laurent</a:t>
            </a:r>
            <a:endParaRPr lang="en-US" sz="938" dirty="0"/>
          </a:p>
        </p:txBody>
      </p:sp>
      <p:sp>
        <p:nvSpPr>
          <p:cNvPr id="55" name="Text 53"/>
          <p:cNvSpPr/>
          <p:nvPr/>
        </p:nvSpPr>
        <p:spPr>
          <a:xfrm>
            <a:off x="8597354" y="3667125"/>
            <a:ext cx="868114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938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55%</a:t>
            </a:r>
            <a:endParaRPr lang="en-US" sz="938" dirty="0"/>
          </a:p>
        </p:txBody>
      </p:sp>
      <p:sp>
        <p:nvSpPr>
          <p:cNvPr id="56" name="Text 54"/>
          <p:cNvSpPr/>
          <p:nvPr/>
        </p:nvSpPr>
        <p:spPr>
          <a:xfrm>
            <a:off x="9389269" y="3667125"/>
            <a:ext cx="868114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938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48.7%</a:t>
            </a:r>
            <a:endParaRPr lang="en-US" sz="938" dirty="0"/>
          </a:p>
        </p:txBody>
      </p:sp>
      <p:sp>
        <p:nvSpPr>
          <p:cNvPr id="57" name="Text 55"/>
          <p:cNvSpPr/>
          <p:nvPr/>
        </p:nvSpPr>
        <p:spPr>
          <a:xfrm>
            <a:off x="10181183" y="3667125"/>
            <a:ext cx="110579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82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4yr / 1yr cliff</a:t>
            </a:r>
            <a:endParaRPr lang="en-US" sz="825" dirty="0"/>
          </a:p>
        </p:txBody>
      </p:sp>
      <p:sp>
        <p:nvSpPr>
          <p:cNvPr id="58" name="Shape 56"/>
          <p:cNvSpPr/>
          <p:nvPr/>
        </p:nvSpPr>
        <p:spPr>
          <a:xfrm>
            <a:off x="7114729" y="3914775"/>
            <a:ext cx="4305746" cy="361950"/>
          </a:xfrm>
          <a:prstGeom prst="rect">
            <a:avLst/>
          </a:prstGeom>
          <a:solidFill>
            <a:srgbClr val="F8F8FA"/>
          </a:solidFill>
          <a:ln/>
        </p:spPr>
      </p:sp>
      <p:sp>
        <p:nvSpPr>
          <p:cNvPr id="59" name="Shape 57"/>
          <p:cNvSpPr/>
          <p:nvPr/>
        </p:nvSpPr>
        <p:spPr>
          <a:xfrm>
            <a:off x="7114729" y="3914775"/>
            <a:ext cx="4305746" cy="9525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60" name="Text 58"/>
          <p:cNvSpPr/>
          <p:nvPr/>
        </p:nvSpPr>
        <p:spPr>
          <a:xfrm>
            <a:off x="7248079" y="4029075"/>
            <a:ext cx="156802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Priya Nair</a:t>
            </a:r>
            <a:endParaRPr lang="en-US" sz="938" dirty="0"/>
          </a:p>
        </p:txBody>
      </p:sp>
      <p:sp>
        <p:nvSpPr>
          <p:cNvPr id="61" name="Text 59"/>
          <p:cNvSpPr/>
          <p:nvPr/>
        </p:nvSpPr>
        <p:spPr>
          <a:xfrm>
            <a:off x="8597354" y="4029075"/>
            <a:ext cx="868114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938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35%</a:t>
            </a:r>
            <a:endParaRPr lang="en-US" sz="938" dirty="0"/>
          </a:p>
        </p:txBody>
      </p:sp>
      <p:sp>
        <p:nvSpPr>
          <p:cNvPr id="62" name="Text 60"/>
          <p:cNvSpPr/>
          <p:nvPr/>
        </p:nvSpPr>
        <p:spPr>
          <a:xfrm>
            <a:off x="9389269" y="4029075"/>
            <a:ext cx="868114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938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31.0%</a:t>
            </a:r>
            <a:endParaRPr lang="en-US" sz="938" dirty="0"/>
          </a:p>
        </p:txBody>
      </p:sp>
      <p:sp>
        <p:nvSpPr>
          <p:cNvPr id="63" name="Text 61"/>
          <p:cNvSpPr/>
          <p:nvPr/>
        </p:nvSpPr>
        <p:spPr>
          <a:xfrm>
            <a:off x="10181183" y="4029075"/>
            <a:ext cx="110579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82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4yr / 1yr cliff</a:t>
            </a:r>
            <a:endParaRPr lang="en-US" sz="825" dirty="0"/>
          </a:p>
        </p:txBody>
      </p:sp>
      <p:sp>
        <p:nvSpPr>
          <p:cNvPr id="64" name="Shape 62"/>
          <p:cNvSpPr/>
          <p:nvPr/>
        </p:nvSpPr>
        <p:spPr>
          <a:xfrm>
            <a:off x="7114729" y="4276725"/>
            <a:ext cx="4305746" cy="3619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Shape 63"/>
          <p:cNvSpPr/>
          <p:nvPr/>
        </p:nvSpPr>
        <p:spPr>
          <a:xfrm>
            <a:off x="7114729" y="4276725"/>
            <a:ext cx="4305746" cy="9525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66" name="Text 64"/>
          <p:cNvSpPr/>
          <p:nvPr/>
        </p:nvSpPr>
        <p:spPr>
          <a:xfrm>
            <a:off x="7248079" y="4391025"/>
            <a:ext cx="156802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 pool</a:t>
            </a:r>
            <a:endParaRPr lang="en-US" sz="938" dirty="0"/>
          </a:p>
        </p:txBody>
      </p:sp>
      <p:sp>
        <p:nvSpPr>
          <p:cNvPr id="67" name="Text 65"/>
          <p:cNvSpPr/>
          <p:nvPr/>
        </p:nvSpPr>
        <p:spPr>
          <a:xfrm>
            <a:off x="8597354" y="4391025"/>
            <a:ext cx="868114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938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endParaRPr lang="en-US" sz="938" dirty="0"/>
          </a:p>
        </p:txBody>
      </p:sp>
      <p:sp>
        <p:nvSpPr>
          <p:cNvPr id="68" name="Text 66"/>
          <p:cNvSpPr/>
          <p:nvPr/>
        </p:nvSpPr>
        <p:spPr>
          <a:xfrm>
            <a:off x="9389269" y="4391025"/>
            <a:ext cx="868114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938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8.8%</a:t>
            </a:r>
            <a:endParaRPr lang="en-US" sz="938" dirty="0"/>
          </a:p>
        </p:txBody>
      </p:sp>
      <p:sp>
        <p:nvSpPr>
          <p:cNvPr id="69" name="Text 67"/>
          <p:cNvSpPr/>
          <p:nvPr/>
        </p:nvSpPr>
        <p:spPr>
          <a:xfrm>
            <a:off x="10181183" y="4391025"/>
            <a:ext cx="110579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82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Reserved</a:t>
            </a:r>
            <a:endParaRPr lang="en-US" sz="825" dirty="0"/>
          </a:p>
        </p:txBody>
      </p:sp>
      <p:sp>
        <p:nvSpPr>
          <p:cNvPr id="70" name="Shape 68"/>
          <p:cNvSpPr/>
          <p:nvPr/>
        </p:nvSpPr>
        <p:spPr>
          <a:xfrm>
            <a:off x="7114729" y="4638675"/>
            <a:ext cx="4305746" cy="361950"/>
          </a:xfrm>
          <a:prstGeom prst="rect">
            <a:avLst/>
          </a:prstGeom>
          <a:solidFill>
            <a:srgbClr val="F7F5FF"/>
          </a:solidFill>
          <a:ln/>
        </p:spPr>
      </p:sp>
      <p:sp>
        <p:nvSpPr>
          <p:cNvPr id="71" name="Shape 69"/>
          <p:cNvSpPr/>
          <p:nvPr/>
        </p:nvSpPr>
        <p:spPr>
          <a:xfrm>
            <a:off x="7114729" y="4638675"/>
            <a:ext cx="4305746" cy="9525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72" name="Text 70"/>
          <p:cNvSpPr/>
          <p:nvPr/>
        </p:nvSpPr>
        <p:spPr>
          <a:xfrm>
            <a:off x="7248079" y="4752975"/>
            <a:ext cx="156802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553C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investors</a:t>
            </a:r>
            <a:endParaRPr lang="en-US" sz="938" dirty="0"/>
          </a:p>
        </p:txBody>
      </p:sp>
      <p:sp>
        <p:nvSpPr>
          <p:cNvPr id="73" name="Text 71"/>
          <p:cNvSpPr/>
          <p:nvPr/>
        </p:nvSpPr>
        <p:spPr>
          <a:xfrm>
            <a:off x="8597354" y="4752975"/>
            <a:ext cx="868114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938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938" dirty="0"/>
          </a:p>
        </p:txBody>
      </p:sp>
      <p:sp>
        <p:nvSpPr>
          <p:cNvPr id="74" name="Text 72"/>
          <p:cNvSpPr/>
          <p:nvPr/>
        </p:nvSpPr>
        <p:spPr>
          <a:xfrm>
            <a:off x="9389269" y="4752975"/>
            <a:ext cx="868114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938" b="1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11.5%</a:t>
            </a:r>
            <a:endParaRPr lang="en-US" sz="938" dirty="0"/>
          </a:p>
        </p:txBody>
      </p:sp>
      <p:sp>
        <p:nvSpPr>
          <p:cNvPr id="75" name="Text 73"/>
          <p:cNvSpPr/>
          <p:nvPr/>
        </p:nvSpPr>
        <p:spPr>
          <a:xfrm>
            <a:off x="10181183" y="4752975"/>
            <a:ext cx="110579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82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round</a:t>
            </a:r>
            <a:endParaRPr lang="en-US" sz="825" dirty="0"/>
          </a:p>
        </p:txBody>
      </p:sp>
      <p:sp>
        <p:nvSpPr>
          <p:cNvPr id="76" name="Shape 74"/>
          <p:cNvSpPr/>
          <p:nvPr/>
        </p:nvSpPr>
        <p:spPr>
          <a:xfrm>
            <a:off x="7105204" y="5143500"/>
            <a:ext cx="4324796" cy="828675"/>
          </a:xfrm>
          <a:prstGeom prst="roundRect">
            <a:avLst>
              <a:gd name="adj" fmla="val 14943"/>
            </a:avLst>
          </a:prstGeom>
          <a:solidFill>
            <a:srgbClr val="F7F5FF"/>
          </a:solidFill>
          <a:ln w="9525">
            <a:solidFill>
              <a:srgbClr val="E9E4F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267129" y="5286375"/>
            <a:ext cx="4401041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788" b="1" spc="63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STRUCTURE</a:t>
            </a:r>
            <a:endParaRPr lang="en-US" sz="788" dirty="0"/>
          </a:p>
        </p:txBody>
      </p:sp>
      <p:sp>
        <p:nvSpPr>
          <p:cNvPr id="78" name="Text 76"/>
          <p:cNvSpPr/>
          <p:nvPr/>
        </p:nvSpPr>
        <p:spPr>
          <a:xfrm>
            <a:off x="7267129" y="5467350"/>
            <a:ext cx="412097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875"/>
              </a:lnSpc>
              <a:buNone/>
            </a:pPr>
            <a:r>
              <a:rPr lang="en-US" sz="975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prior instruments outstanding. This round takes </a:t>
            </a:r>
            <a:pPr algn="l" indent="0" marL="0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11.5% </a:t>
            </a:r>
            <a:pPr algn="l" indent="0" marL="0">
              <a:lnSpc>
                <a:spcPct val="121875"/>
              </a:lnSpc>
              <a:buNone/>
            </a:pPr>
            <a:r>
              <a:rPr lang="en-US" sz="975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$6.5M post-money, leaving founders at </a:t>
            </a:r>
            <a:pPr algn="l" indent="0" marL="0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79.6%</a:t>
            </a:r>
            <a:pPr algn="l" indent="0" marL="0">
              <a:lnSpc>
                <a:spcPct val="121875"/>
              </a:lnSpc>
              <a:buNone/>
            </a:pPr>
            <a:r>
              <a:rPr lang="en-US" sz="975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75" dirty="0"/>
          </a:p>
        </p:txBody>
      </p:sp>
      <p:sp>
        <p:nvSpPr>
          <p:cNvPr id="79" name="Shape 77"/>
          <p:cNvSpPr/>
          <p:nvPr/>
        </p:nvSpPr>
        <p:spPr>
          <a:xfrm>
            <a:off x="7105204" y="6105525"/>
            <a:ext cx="1613743" cy="276225"/>
          </a:xfrm>
          <a:prstGeom prst="roundRect">
            <a:avLst>
              <a:gd name="adj" fmla="val 50000"/>
            </a:avLst>
          </a:prstGeom>
          <a:solidFill>
            <a:srgbClr val="F0FFF4"/>
          </a:solidFill>
          <a:ln w="9525">
            <a:solidFill>
              <a:srgbClr val="C6F6D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229029" y="6172200"/>
            <a:ext cx="144229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8A1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83(b) filed ✓ Jul 8, 2026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8795147" y="6105525"/>
            <a:ext cx="1341090" cy="276225"/>
          </a:xfrm>
          <a:prstGeom prst="roundRect">
            <a:avLst>
              <a:gd name="adj" fmla="val 50000"/>
            </a:avLst>
          </a:prstGeom>
          <a:solidFill>
            <a:srgbClr val="F0FFF4"/>
          </a:solidFill>
          <a:ln w="9525">
            <a:solidFill>
              <a:srgbClr val="C6F6D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918972" y="6172200"/>
            <a:ext cx="116964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F85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Delaware C-Corp ✓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11462593" y="6467475"/>
            <a:ext cx="38650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8" kern="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62000" y="647700"/>
            <a:ext cx="572071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b="1" spc="135" kern="0" dirty="0">
                <a:solidFill>
                  <a:srgbClr val="6B46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 READINESS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762000" y="1076325"/>
            <a:ext cx="572071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b="1" spc="-75" kern="0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NovaCraft AI</a:t>
            </a:r>
            <a:endParaRPr lang="en-US" sz="3750" dirty="0"/>
          </a:p>
        </p:txBody>
      </p:sp>
      <p:sp>
        <p:nvSpPr>
          <p:cNvPr id="6" name="Text 4"/>
          <p:cNvSpPr/>
          <p:nvPr/>
        </p:nvSpPr>
        <p:spPr>
          <a:xfrm>
            <a:off x="762000" y="1724025"/>
            <a:ext cx="572071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231"/>
              </a:lnSpc>
              <a:buNone/>
            </a:pPr>
            <a:r>
              <a:rPr lang="en-US" sz="16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intelligent async layer for distributed teams.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762000" y="2286000"/>
            <a:ext cx="990600" cy="990600"/>
          </a:xfrm>
          <a:prstGeom prst="ellipse">
            <a:avLst/>
          </a:prstGeom>
          <a:solidFill>
            <a:srgbClr val="38A169"/>
          </a:solidFill>
          <a:ln/>
        </p:spPr>
      </p:sp>
      <p:sp>
        <p:nvSpPr>
          <p:cNvPr id="8" name="Shape 6"/>
          <p:cNvSpPr/>
          <p:nvPr/>
        </p:nvSpPr>
        <p:spPr>
          <a:xfrm>
            <a:off x="885825" y="2409825"/>
            <a:ext cx="742950" cy="74295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963811" y="2566988"/>
            <a:ext cx="66302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82%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16062" y="2862263"/>
            <a:ext cx="358527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825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ready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1943100" y="2395538"/>
            <a:ext cx="4140136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571"/>
              </a:lnSpc>
              <a:buNone/>
            </a:pPr>
            <a:r>
              <a:rPr lang="en-US" sz="1350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Incorporated Delaware C-Corp, clean cap table, 83(b) filed. 30 interviews and strong solution-fit validate pull.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2000" y="5753100"/>
            <a:ext cx="1957536" cy="533400"/>
          </a:xfrm>
          <a:prstGeom prst="roundRect">
            <a:avLst>
              <a:gd name="adj" fmla="val 21429"/>
            </a:avLst>
          </a:prstGeom>
          <a:solidFill>
            <a:srgbClr val="6B46C1"/>
          </a:solidFill>
          <a:ln/>
        </p:spPr>
      </p:sp>
      <p:sp>
        <p:nvSpPr>
          <p:cNvPr id="13" name="Text 11"/>
          <p:cNvSpPr/>
          <p:nvPr/>
        </p:nvSpPr>
        <p:spPr>
          <a:xfrm>
            <a:off x="1009650" y="5905500"/>
            <a:ext cx="153843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 Intro →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852886" y="5929313"/>
            <a:ext cx="173861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guillaume@novacraft.ai</a:t>
            </a:r>
            <a:endParaRPr lang="en-US" sz="1125" dirty="0"/>
          </a:p>
        </p:txBody>
      </p:sp>
      <p:sp>
        <p:nvSpPr>
          <p:cNvPr id="15" name="Shape 13"/>
          <p:cNvSpPr/>
          <p:nvPr/>
        </p:nvSpPr>
        <p:spPr>
          <a:xfrm>
            <a:off x="6381750" y="647700"/>
            <a:ext cx="5048250" cy="5638800"/>
          </a:xfrm>
          <a:prstGeom prst="roundRect">
            <a:avLst>
              <a:gd name="adj" fmla="val 3396"/>
            </a:avLst>
          </a:prstGeom>
          <a:solidFill>
            <a:srgbClr val="F8F8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7025" y="923925"/>
            <a:ext cx="490347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spc="78" kern="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DILIGENCE PACKAGE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6677025" y="1247775"/>
            <a:ext cx="361950" cy="361950"/>
          </a:xfrm>
          <a:prstGeom prst="roundRect">
            <a:avLst>
              <a:gd name="adj" fmla="val 21053"/>
            </a:avLst>
          </a:prstGeom>
          <a:solidFill>
            <a:srgbClr val="F0FFF4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24650" y="1295400"/>
            <a:ext cx="266700" cy="2667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162800" y="1328738"/>
            <a:ext cx="359067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Delaware C-Corp filed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10550872" y="1352550"/>
            <a:ext cx="66005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8A1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</a:t>
            </a:r>
            <a:endParaRPr lang="en-US" sz="975" dirty="0"/>
          </a:p>
        </p:txBody>
      </p:sp>
      <p:sp>
        <p:nvSpPr>
          <p:cNvPr id="21" name="Shape 18"/>
          <p:cNvSpPr/>
          <p:nvPr/>
        </p:nvSpPr>
        <p:spPr>
          <a:xfrm>
            <a:off x="6677025" y="1733550"/>
            <a:ext cx="361950" cy="361950"/>
          </a:xfrm>
          <a:prstGeom prst="roundRect">
            <a:avLst>
              <a:gd name="adj" fmla="val 21053"/>
            </a:avLst>
          </a:prstGeom>
          <a:solidFill>
            <a:srgbClr val="F0FFF4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24650" y="1781175"/>
            <a:ext cx="266700" cy="26670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162800" y="1814513"/>
            <a:ext cx="359067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83(b) election filed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10550872" y="1838325"/>
            <a:ext cx="66005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8A1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</a:t>
            </a:r>
            <a:endParaRPr lang="en-US" sz="975" dirty="0"/>
          </a:p>
        </p:txBody>
      </p:sp>
      <p:sp>
        <p:nvSpPr>
          <p:cNvPr id="25" name="Shape 21"/>
          <p:cNvSpPr/>
          <p:nvPr/>
        </p:nvSpPr>
        <p:spPr>
          <a:xfrm>
            <a:off x="6677025" y="2219325"/>
            <a:ext cx="361950" cy="361950"/>
          </a:xfrm>
          <a:prstGeom prst="roundRect">
            <a:avLst>
              <a:gd name="adj" fmla="val 21053"/>
            </a:avLst>
          </a:prstGeom>
          <a:solidFill>
            <a:srgbClr val="F0FFF4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24650" y="2266950"/>
            <a:ext cx="266700" cy="26670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162800" y="2300288"/>
            <a:ext cx="359067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 table on Carta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10550872" y="2324100"/>
            <a:ext cx="66005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8A1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</a:t>
            </a:r>
            <a:endParaRPr lang="en-US" sz="975" dirty="0"/>
          </a:p>
        </p:txBody>
      </p:sp>
      <p:sp>
        <p:nvSpPr>
          <p:cNvPr id="29" name="Shape 24"/>
          <p:cNvSpPr/>
          <p:nvPr/>
        </p:nvSpPr>
        <p:spPr>
          <a:xfrm>
            <a:off x="6677025" y="2705100"/>
            <a:ext cx="361950" cy="361950"/>
          </a:xfrm>
          <a:prstGeom prst="roundRect">
            <a:avLst>
              <a:gd name="adj" fmla="val 21053"/>
            </a:avLst>
          </a:prstGeom>
          <a:solidFill>
            <a:srgbClr val="F0FFF4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24650" y="2752725"/>
            <a:ext cx="266700" cy="26670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162800" y="2786063"/>
            <a:ext cx="359067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Financial model</a:t>
            </a:r>
            <a:endParaRPr lang="en-US" sz="1350" dirty="0"/>
          </a:p>
        </p:txBody>
      </p:sp>
      <p:sp>
        <p:nvSpPr>
          <p:cNvPr id="32" name="Text 26"/>
          <p:cNvSpPr/>
          <p:nvPr/>
        </p:nvSpPr>
        <p:spPr>
          <a:xfrm>
            <a:off x="10550872" y="2809875"/>
            <a:ext cx="66005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8A1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</a:t>
            </a:r>
            <a:endParaRPr lang="en-US" sz="975" dirty="0"/>
          </a:p>
        </p:txBody>
      </p:sp>
      <p:sp>
        <p:nvSpPr>
          <p:cNvPr id="33" name="Shape 27"/>
          <p:cNvSpPr/>
          <p:nvPr/>
        </p:nvSpPr>
        <p:spPr>
          <a:xfrm>
            <a:off x="6677025" y="3190875"/>
            <a:ext cx="361950" cy="361950"/>
          </a:xfrm>
          <a:prstGeom prst="roundRect">
            <a:avLst>
              <a:gd name="adj" fmla="val 21053"/>
            </a:avLst>
          </a:prstGeom>
          <a:solidFill>
            <a:srgbClr val="FFFAF0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24650" y="3238500"/>
            <a:ext cx="266700" cy="26670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162800" y="3271838"/>
            <a:ext cx="368611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Pitch deck complete</a:t>
            </a:r>
            <a:endParaRPr lang="en-US" sz="1350" dirty="0"/>
          </a:p>
        </p:txBody>
      </p:sp>
      <p:sp>
        <p:nvSpPr>
          <p:cNvPr id="36" name="Text 29"/>
          <p:cNvSpPr/>
          <p:nvPr/>
        </p:nvSpPr>
        <p:spPr>
          <a:xfrm>
            <a:off x="10637639" y="3295650"/>
            <a:ext cx="573286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</a:t>
            </a:r>
            <a:endParaRPr lang="en-US" sz="975" dirty="0"/>
          </a:p>
        </p:txBody>
      </p:sp>
      <p:sp>
        <p:nvSpPr>
          <p:cNvPr id="37" name="Shape 30"/>
          <p:cNvSpPr/>
          <p:nvPr/>
        </p:nvSpPr>
        <p:spPr>
          <a:xfrm>
            <a:off x="6677025" y="3676650"/>
            <a:ext cx="361950" cy="361950"/>
          </a:xfrm>
          <a:prstGeom prst="roundRect">
            <a:avLst>
              <a:gd name="adj" fmla="val 21053"/>
            </a:avLst>
          </a:prstGeom>
          <a:solidFill>
            <a:srgbClr val="FFFAF0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724650" y="3724275"/>
            <a:ext cx="266700" cy="26670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7162800" y="3757613"/>
            <a:ext cx="368611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room / diligence</a:t>
            </a:r>
            <a:endParaRPr lang="en-US" sz="1350" dirty="0"/>
          </a:p>
        </p:txBody>
      </p:sp>
      <p:sp>
        <p:nvSpPr>
          <p:cNvPr id="40" name="Text 32"/>
          <p:cNvSpPr/>
          <p:nvPr/>
        </p:nvSpPr>
        <p:spPr>
          <a:xfrm>
            <a:off x="10637639" y="3781425"/>
            <a:ext cx="573286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</a:t>
            </a:r>
            <a:endParaRPr lang="en-US" sz="975" dirty="0"/>
          </a:p>
        </p:txBody>
      </p:sp>
      <p:sp>
        <p:nvSpPr>
          <p:cNvPr id="41" name="Shape 33"/>
          <p:cNvSpPr/>
          <p:nvPr/>
        </p:nvSpPr>
        <p:spPr>
          <a:xfrm>
            <a:off x="6677025" y="5619750"/>
            <a:ext cx="445770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2" name="Text 34"/>
          <p:cNvSpPr/>
          <p:nvPr/>
        </p:nvSpPr>
        <p:spPr>
          <a:xfrm>
            <a:off x="6677025" y="5815013"/>
            <a:ext cx="1242268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Package complete</a:t>
            </a:r>
            <a:endParaRPr lang="en-US" sz="1050" dirty="0"/>
          </a:p>
        </p:txBody>
      </p:sp>
      <p:sp>
        <p:nvSpPr>
          <p:cNvPr id="43" name="Text 35"/>
          <p:cNvSpPr/>
          <p:nvPr/>
        </p:nvSpPr>
        <p:spPr>
          <a:xfrm>
            <a:off x="10597009" y="5781675"/>
            <a:ext cx="61391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0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2026-08-06T17:31:55Z</dcterms:created>
  <dcterms:modified xsi:type="dcterms:W3CDTF">2026-08-06T17:31:55Z</dcterms:modified>
</cp:coreProperties>
</file>